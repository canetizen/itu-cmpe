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embeddedFontLst>
    <p:embeddedFont>
      <p:font typeface="Play" panose="020B0604020202020204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026" autoAdjust="0"/>
  </p:normalViewPr>
  <p:slideViewPr>
    <p:cSldViewPr snapToGrid="0">
      <p:cViewPr varScale="1">
        <p:scale>
          <a:sx n="59" d="100"/>
          <a:sy n="59" d="100"/>
        </p:scale>
        <p:origin x="1589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tafa Can Çalışkan" userId="93d707d895a7d3b6" providerId="LiveId" clId="{812645DE-AC7E-40A8-A04A-1256D90DBF59}"/>
    <pc:docChg chg="modSld">
      <pc:chgData name="Mustafa Can Çalışkan" userId="93d707d895a7d3b6" providerId="LiveId" clId="{812645DE-AC7E-40A8-A04A-1256D90DBF59}" dt="2026-03-09T19:00:03.124" v="137" actId="20577"/>
      <pc:docMkLst>
        <pc:docMk/>
      </pc:docMkLst>
      <pc:sldChg chg="modNotesTx">
        <pc:chgData name="Mustafa Can Çalışkan" userId="93d707d895a7d3b6" providerId="LiveId" clId="{812645DE-AC7E-40A8-A04A-1256D90DBF59}" dt="2026-03-09T18:57:17.201" v="0"/>
        <pc:sldMkLst>
          <pc:docMk/>
          <pc:sldMk cId="0" sldId="256"/>
        </pc:sldMkLst>
      </pc:sldChg>
      <pc:sldChg chg="modNotesTx">
        <pc:chgData name="Mustafa Can Çalışkan" userId="93d707d895a7d3b6" providerId="LiveId" clId="{812645DE-AC7E-40A8-A04A-1256D90DBF59}" dt="2026-03-09T18:57:23.487" v="1"/>
        <pc:sldMkLst>
          <pc:docMk/>
          <pc:sldMk cId="255434497" sldId="257"/>
        </pc:sldMkLst>
      </pc:sldChg>
      <pc:sldChg chg="modNotesTx">
        <pc:chgData name="Mustafa Can Çalışkan" userId="93d707d895a7d3b6" providerId="LiveId" clId="{812645DE-AC7E-40A8-A04A-1256D90DBF59}" dt="2026-03-09T18:57:29.423" v="2"/>
        <pc:sldMkLst>
          <pc:docMk/>
          <pc:sldMk cId="3585384427" sldId="258"/>
        </pc:sldMkLst>
      </pc:sldChg>
      <pc:sldChg chg="modNotesTx">
        <pc:chgData name="Mustafa Can Çalışkan" userId="93d707d895a7d3b6" providerId="LiveId" clId="{812645DE-AC7E-40A8-A04A-1256D90DBF59}" dt="2026-03-09T18:57:38.157" v="3"/>
        <pc:sldMkLst>
          <pc:docMk/>
          <pc:sldMk cId="0" sldId="259"/>
        </pc:sldMkLst>
      </pc:sldChg>
      <pc:sldChg chg="modNotesTx">
        <pc:chgData name="Mustafa Can Çalışkan" userId="93d707d895a7d3b6" providerId="LiveId" clId="{812645DE-AC7E-40A8-A04A-1256D90DBF59}" dt="2026-03-09T18:57:44.845" v="4"/>
        <pc:sldMkLst>
          <pc:docMk/>
          <pc:sldMk cId="1736996427" sldId="260"/>
        </pc:sldMkLst>
      </pc:sldChg>
      <pc:sldChg chg="modNotesTx">
        <pc:chgData name="Mustafa Can Çalışkan" userId="93d707d895a7d3b6" providerId="LiveId" clId="{812645DE-AC7E-40A8-A04A-1256D90DBF59}" dt="2026-03-09T18:57:52.181" v="5"/>
        <pc:sldMkLst>
          <pc:docMk/>
          <pc:sldMk cId="3683299853" sldId="261"/>
        </pc:sldMkLst>
      </pc:sldChg>
      <pc:sldChg chg="modNotesTx">
        <pc:chgData name="Mustafa Can Çalışkan" userId="93d707d895a7d3b6" providerId="LiveId" clId="{812645DE-AC7E-40A8-A04A-1256D90DBF59}" dt="2026-03-09T18:57:59.651" v="6"/>
        <pc:sldMkLst>
          <pc:docMk/>
          <pc:sldMk cId="1713287458" sldId="262"/>
        </pc:sldMkLst>
      </pc:sldChg>
      <pc:sldChg chg="modNotesTx">
        <pc:chgData name="Mustafa Can Çalışkan" userId="93d707d895a7d3b6" providerId="LiveId" clId="{812645DE-AC7E-40A8-A04A-1256D90DBF59}" dt="2026-03-09T18:58:08.821" v="7"/>
        <pc:sldMkLst>
          <pc:docMk/>
          <pc:sldMk cId="772109791" sldId="263"/>
        </pc:sldMkLst>
      </pc:sldChg>
      <pc:sldChg chg="modNotesTx">
        <pc:chgData name="Mustafa Can Çalışkan" userId="93d707d895a7d3b6" providerId="LiveId" clId="{812645DE-AC7E-40A8-A04A-1256D90DBF59}" dt="2026-03-09T18:58:15.907" v="8"/>
        <pc:sldMkLst>
          <pc:docMk/>
          <pc:sldMk cId="2207054209" sldId="264"/>
        </pc:sldMkLst>
      </pc:sldChg>
      <pc:sldChg chg="modNotesTx">
        <pc:chgData name="Mustafa Can Çalışkan" userId="93d707d895a7d3b6" providerId="LiveId" clId="{812645DE-AC7E-40A8-A04A-1256D90DBF59}" dt="2026-03-09T19:00:03.124" v="137" actId="20577"/>
        <pc:sldMkLst>
          <pc:docMk/>
          <pc:sldMk cId="1436720333" sldId="265"/>
        </pc:sldMkLst>
      </pc:sldChg>
      <pc:sldChg chg="modNotesTx">
        <pc:chgData name="Mustafa Can Çalışkan" userId="93d707d895a7d3b6" providerId="LiveId" clId="{812645DE-AC7E-40A8-A04A-1256D90DBF59}" dt="2026-03-09T18:58:33.179" v="10"/>
        <pc:sldMkLst>
          <pc:docMk/>
          <pc:sldMk cId="1310863203" sldId="266"/>
        </pc:sldMkLst>
      </pc:sldChg>
      <pc:sldChg chg="modNotesTx">
        <pc:chgData name="Mustafa Can Çalışkan" userId="93d707d895a7d3b6" providerId="LiveId" clId="{812645DE-AC7E-40A8-A04A-1256D90DBF59}" dt="2026-03-09T18:58:38.866" v="11"/>
        <pc:sldMkLst>
          <pc:docMk/>
          <pc:sldMk cId="690353253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sz="4000" dirty="0"/>
          </a:p>
        </p:txBody>
      </p:sp>
      <p:sp>
        <p:nvSpPr>
          <p:cNvPr id="142" name="Google Shape;1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260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9213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2232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417567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7934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8443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6662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9062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1907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0373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7111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3711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9018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508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 descr="Celestia-R1---OverlayTitleH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cap="none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85802" y="2142067"/>
            <a:ext cx="4995334" cy="3649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5821895" y="2142067"/>
            <a:ext cx="4995332" cy="364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85801" y="2870201"/>
            <a:ext cx="4996923" cy="2920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096003" y="2226734"/>
            <a:ext cx="4722813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5823483" y="2870201"/>
            <a:ext cx="4995334" cy="2920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7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8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8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9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4648201" y="609601"/>
            <a:ext cx="6169026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685800" y="3445933"/>
            <a:ext cx="3680885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0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0"/>
          <p:cNvSpPr txBox="1"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 sz="2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>
            <a:spLocks noGrp="1"/>
          </p:cNvSpPr>
          <p:nvPr>
            <p:ph type="pic" idx="2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noFill/>
          <a:ln w="50800" cap="sq" cmpd="dbl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54000" algn="tl" rotWithShape="0">
              <a:srgbClr val="000000">
                <a:alpha val="42745"/>
              </a:srgbClr>
            </a:outerShdw>
          </a:effectLst>
        </p:spPr>
      </p:sp>
      <p:sp>
        <p:nvSpPr>
          <p:cNvPr id="72" name="Google Shape;72;p10"/>
          <p:cNvSpPr txBox="1">
            <a:spLocks noGrp="1"/>
          </p:cNvSpPr>
          <p:nvPr>
            <p:ph type="body" idx="1"/>
          </p:nvPr>
        </p:nvSpPr>
        <p:spPr>
          <a:xfrm>
            <a:off x="685800" y="2971800"/>
            <a:ext cx="6164653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1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1"/>
          <p:cNvSpPr txBox="1"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libri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>
            <a:spLocks noGrp="1"/>
          </p:cNvSpPr>
          <p:nvPr>
            <p:ph type="pic" idx="2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noFill/>
          <a:ln w="50800" cap="sq" cmpd="dbl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54000" algn="tl" rotWithShape="0">
              <a:srgbClr val="000000">
                <a:alpha val="42745"/>
              </a:srgbClr>
            </a:outerShdw>
          </a:effectLst>
        </p:spPr>
      </p:sp>
      <p:sp>
        <p:nvSpPr>
          <p:cNvPr id="80" name="Google Shape;80;p11"/>
          <p:cNvSpPr txBox="1">
            <a:spLocks noGrp="1"/>
          </p:cNvSpPr>
          <p:nvPr>
            <p:ph type="body" idx="1"/>
          </p:nvPr>
        </p:nvSpPr>
        <p:spPr>
          <a:xfrm>
            <a:off x="685800" y="5299603"/>
            <a:ext cx="10131427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3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lang="en-US" sz="8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lang="en-US" sz="8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 b="0"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body" idx="1"/>
          </p:nvPr>
        </p:nvSpPr>
        <p:spPr>
          <a:xfrm>
            <a:off x="1097875" y="3352800"/>
            <a:ext cx="933918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Calibri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Calibri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Calibri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body" idx="2"/>
          </p:nvPr>
        </p:nvSpPr>
        <p:spPr>
          <a:xfrm>
            <a:off x="687465" y="4343400"/>
            <a:ext cx="10152367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4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lang="en-US" sz="8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alibri"/>
              <a:buNone/>
            </a:pPr>
            <a:r>
              <a:rPr lang="en-US" sz="8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 txBox="1"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 b="0" cap="none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5"/>
          <p:cNvSpPr txBox="1">
            <a:spLocks noGrp="1"/>
          </p:cNvSpPr>
          <p:nvPr>
            <p:ph type="body" idx="1"/>
          </p:nvPr>
        </p:nvSpPr>
        <p:spPr>
          <a:xfrm>
            <a:off x="685800" y="3886200"/>
            <a:ext cx="10135436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0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2"/>
          </p:nvPr>
        </p:nvSpPr>
        <p:spPr>
          <a:xfrm>
            <a:off x="685799" y="4775200"/>
            <a:ext cx="10135436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6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685801" y="3505200"/>
            <a:ext cx="10131428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0" cap="none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2"/>
          </p:nvPr>
        </p:nvSpPr>
        <p:spPr>
          <a:xfrm>
            <a:off x="685800" y="4343400"/>
            <a:ext cx="10131428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16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6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7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body" idx="1"/>
          </p:nvPr>
        </p:nvSpPr>
        <p:spPr>
          <a:xfrm rot="5400000">
            <a:off x="3926947" y="-1099079"/>
            <a:ext cx="3649133" cy="1013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7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8" descr="Celestia-R1---OverlayContentH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88825" cy="685621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>
            <a:spLocks noGrp="1"/>
          </p:cNvSpPr>
          <p:nvPr>
            <p:ph type="title"/>
          </p:nvPr>
        </p:nvSpPr>
        <p:spPr>
          <a:xfrm rot="5400000">
            <a:off x="7147151" y="2121124"/>
            <a:ext cx="5181601" cy="2158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8"/>
          <p:cNvSpPr txBox="1">
            <a:spLocks noGrp="1"/>
          </p:cNvSpPr>
          <p:nvPr>
            <p:ph type="body" idx="1"/>
          </p:nvPr>
        </p:nvSpPr>
        <p:spPr>
          <a:xfrm rot="5400000">
            <a:off x="2011058" y="-715658"/>
            <a:ext cx="5181600" cy="7832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18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8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8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8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  <a:defRPr sz="3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>
            <a:spLocks noGrp="1"/>
          </p:cNvSpPr>
          <p:nvPr>
            <p:ph type="ctrTitle"/>
          </p:nvPr>
        </p:nvSpPr>
        <p:spPr>
          <a:xfrm>
            <a:off x="830633" y="868892"/>
            <a:ext cx="10530733" cy="2421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</a:pPr>
            <a:r>
              <a:rPr lang="en-US" sz="4700" b="1" dirty="0">
                <a:latin typeface="Play"/>
                <a:ea typeface="Play"/>
                <a:cs typeface="Play"/>
                <a:sym typeface="Play"/>
              </a:rPr>
              <a:t>Benchmarking Hybrid Graph Transactional/Analytical Processing and Elastic Scale-Out in Open-Source Distributed Graph Databases</a:t>
            </a:r>
          </a:p>
        </p:txBody>
      </p:sp>
      <p:sp>
        <p:nvSpPr>
          <p:cNvPr id="145" name="Google Shape;145;p19"/>
          <p:cNvSpPr txBox="1">
            <a:spLocks noGrp="1"/>
          </p:cNvSpPr>
          <p:nvPr>
            <p:ph type="subTitle" idx="1"/>
          </p:nvPr>
        </p:nvSpPr>
        <p:spPr>
          <a:xfrm>
            <a:off x="831050" y="4112600"/>
            <a:ext cx="10530900" cy="11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1900"/>
              <a:buNone/>
            </a:pPr>
            <a:r>
              <a:rPr lang="en-US" sz="2300" b="1" dirty="0">
                <a:latin typeface="Play"/>
                <a:ea typeface="Play"/>
                <a:cs typeface="Play"/>
                <a:sym typeface="Play"/>
              </a:rPr>
              <a:t>MUSTAFA CAN ÇALIŞKAN, 504251544</a:t>
            </a:r>
            <a:endParaRPr sz="2300" b="1" dirty="0">
              <a:latin typeface="Play"/>
              <a:ea typeface="Play"/>
              <a:cs typeface="Play"/>
              <a:sym typeface="Play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en-US" sz="2300" b="1" dirty="0">
                <a:latin typeface="Play"/>
                <a:ea typeface="Play"/>
                <a:cs typeface="Play"/>
                <a:sym typeface="Play"/>
              </a:rPr>
              <a:t>BLG 564E – Advanced Database Systems</a:t>
            </a:r>
            <a:endParaRPr sz="2300" b="1" dirty="0"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46" name="Google Shape;146;p19"/>
          <p:cNvSpPr txBox="1">
            <a:spLocks noGrp="1"/>
          </p:cNvSpPr>
          <p:nvPr>
            <p:ph type="subTitle" idx="1"/>
          </p:nvPr>
        </p:nvSpPr>
        <p:spPr>
          <a:xfrm>
            <a:off x="830633" y="6099144"/>
            <a:ext cx="10635000" cy="5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902"/>
              <a:buNone/>
            </a:pPr>
            <a:r>
              <a:rPr lang="en-US" sz="2400" dirty="0">
                <a:latin typeface="Play"/>
                <a:ea typeface="Play"/>
                <a:cs typeface="Play"/>
                <a:sym typeface="Play"/>
              </a:rPr>
              <a:t>Related Work Review and Project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A45E257-360D-C6DC-87C3-1609040D6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99" y="514375"/>
            <a:ext cx="10744201" cy="713812"/>
          </a:xfrm>
        </p:spPr>
        <p:txBody>
          <a:bodyPr/>
          <a:lstStyle/>
          <a:p>
            <a:r>
              <a:rPr lang="en-US" b="1" dirty="0">
                <a:latin typeface="Play" panose="020B0604020202020204" charset="0"/>
              </a:rPr>
              <a:t>PRESENTATION ROADMAP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682A62D-DA96-F40E-215F-4B02CF42E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3900" y="1787525"/>
            <a:ext cx="10744200" cy="4355081"/>
          </a:xfrm>
        </p:spPr>
        <p:txBody>
          <a:bodyPr>
            <a:normAutofit/>
          </a:bodyPr>
          <a:lstStyle/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Play" panose="020B0604020202020204" charset="0"/>
              </a:rPr>
              <a:t>Part 1 — Background and motivation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Play" panose="020B0604020202020204" charset="0"/>
              </a:rPr>
              <a:t>Why graph databases and hybrid workload matters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Play" panose="020B0604020202020204" charset="0"/>
              </a:rPr>
              <a:t>Part 2 — Review of 6 recent papers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Play" panose="020B0604020202020204" charset="0"/>
              </a:rPr>
              <a:t>Part 3 — How to write a benchmarking paper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Play" panose="020B0604020202020204" charset="0"/>
              </a:rPr>
              <a:t>Part 4 — My planned paper</a:t>
            </a:r>
          </a:p>
        </p:txBody>
      </p:sp>
    </p:spTree>
    <p:extLst>
      <p:ext uri="{BB962C8B-B14F-4D97-AF65-F5344CB8AC3E}">
        <p14:creationId xmlns:p14="http://schemas.microsoft.com/office/powerpoint/2010/main" val="255434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A45E257-360D-C6DC-87C3-1609040D6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99" y="514375"/>
            <a:ext cx="10744201" cy="713812"/>
          </a:xfrm>
        </p:spPr>
        <p:txBody>
          <a:bodyPr/>
          <a:lstStyle/>
          <a:p>
            <a:r>
              <a:rPr lang="en-US" b="1" dirty="0">
                <a:latin typeface="Play" panose="020B0604020202020204" charset="0"/>
              </a:rPr>
              <a:t>BACKGROUND AND MOTIVATION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682A62D-DA96-F40E-215F-4B02CF42E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3900" y="1787525"/>
            <a:ext cx="7172325" cy="4355081"/>
          </a:xfrm>
        </p:spPr>
        <p:txBody>
          <a:bodyPr>
            <a:normAutofit fontScale="85000" lnSpcReduction="20000"/>
          </a:bodyPr>
          <a:lstStyle/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Graph databases keep data as nodes and edges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They are very useful for connected data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For example: social networks, fraud connections, recommendation systems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In real systems, we usually need two things together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transactions and analytics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Sometimes systems also need elastic scale-out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This means we can add new machines while system is still running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There are already many strong studies in this area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But still these studies are a bit separated from each other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So my project asks this question: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How do open source distributed graph databases behave under mixed workloads and scale-out?</a:t>
            </a:r>
          </a:p>
        </p:txBody>
      </p:sp>
      <p:pic>
        <p:nvPicPr>
          <p:cNvPr id="7" name="Resim 6" descr="ekran görüntüsü, diyagram, daire, renklilik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A00BBCD7-B9AE-0FE9-F6AD-D8CE44F8F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7053" y="2530839"/>
            <a:ext cx="3433922" cy="2455155"/>
          </a:xfrm>
          <a:prstGeom prst="rect">
            <a:avLst/>
          </a:prstGeom>
        </p:spPr>
      </p:pic>
      <p:sp>
        <p:nvSpPr>
          <p:cNvPr id="8" name="Google Shape;146;p19">
            <a:extLst>
              <a:ext uri="{FF2B5EF4-FFF2-40B4-BE49-F238E27FC236}">
                <a16:creationId xmlns:a16="http://schemas.microsoft.com/office/drawing/2014/main" id="{411A2334-CC20-C6A0-00E4-FEA9E56688F3}"/>
              </a:ext>
            </a:extLst>
          </p:cNvPr>
          <p:cNvSpPr txBox="1">
            <a:spLocks/>
          </p:cNvSpPr>
          <p:nvPr/>
        </p:nvSpPr>
        <p:spPr>
          <a:xfrm>
            <a:off x="447675" y="6343625"/>
            <a:ext cx="11017958" cy="326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1000"/>
              </a:spcBef>
              <a:buSzPts val="902"/>
            </a:pPr>
            <a:r>
              <a:rPr lang="en-GB" sz="1000" dirty="0">
                <a:latin typeface="Play"/>
                <a:ea typeface="Play"/>
                <a:cs typeface="Play"/>
                <a:sym typeface="Play"/>
              </a:rPr>
              <a:t>Graph database illustration: https://www.geeksforgeeks.org/dbms/neo4j-introduction/</a:t>
            </a:r>
            <a:endParaRPr lang="en-US" sz="1000" dirty="0">
              <a:latin typeface="Play"/>
              <a:ea typeface="Play"/>
              <a:cs typeface="Play"/>
              <a:sym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3585384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A45E257-360D-C6DC-87C3-1609040D6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99" y="514375"/>
            <a:ext cx="10744201" cy="713812"/>
          </a:xfrm>
        </p:spPr>
        <p:txBody>
          <a:bodyPr/>
          <a:lstStyle/>
          <a:p>
            <a:r>
              <a:rPr lang="en-US" b="1" dirty="0">
                <a:latin typeface="Play" panose="020B0604020202020204" charset="0"/>
              </a:rPr>
              <a:t>HOW I ORGANIZED THE RELATED WORK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682A62D-DA96-F40E-215F-4B02CF42E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3900" y="1787525"/>
            <a:ext cx="10741733" cy="4355081"/>
          </a:xfrm>
        </p:spPr>
        <p:txBody>
          <a:bodyPr>
            <a:normAutofit/>
          </a:bodyPr>
          <a:lstStyle/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Benchmark papers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SNB BI — graph OLAP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Play" panose="020B0604020202020204" charset="0"/>
              </a:rPr>
              <a:t>FinBench</a:t>
            </a:r>
            <a:r>
              <a:rPr lang="en-US" sz="2000" dirty="0">
                <a:latin typeface="Play" panose="020B0604020202020204" charset="0"/>
              </a:rPr>
              <a:t> — graph OLTP in finance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SNB Interactive v2 — transactional benchmark design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System papers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Play" panose="020B0604020202020204" charset="0"/>
              </a:rPr>
              <a:t>Galaxybase</a:t>
            </a:r>
            <a:r>
              <a:rPr lang="en-US" sz="2000" dirty="0">
                <a:latin typeface="Play" panose="020B0604020202020204" charset="0"/>
              </a:rPr>
              <a:t> — graph HTAP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G-Tran — distributed graph transactions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BACH — storage design for mixed workloads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Play" panose="020B0604020202020204" charset="0"/>
              </a:rPr>
              <a:t>Common gap: </a:t>
            </a:r>
            <a:r>
              <a:rPr lang="en-US" sz="2200" dirty="0">
                <a:latin typeface="Play" panose="020B0604020202020204" charset="0"/>
              </a:rPr>
              <a:t>no portable, open, multisystem benchmark for mixed workloads under a controlled scale-out event</a:t>
            </a:r>
          </a:p>
        </p:txBody>
      </p:sp>
    </p:spTree>
    <p:extLst>
      <p:ext uri="{BB962C8B-B14F-4D97-AF65-F5344CB8AC3E}">
        <p14:creationId xmlns:p14="http://schemas.microsoft.com/office/powerpoint/2010/main" val="1736996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A45E257-360D-C6DC-87C3-1609040D6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99" y="232153"/>
            <a:ext cx="10744201" cy="713812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Play" panose="020B0604020202020204" charset="0"/>
              </a:rPr>
              <a:t>PAPER 1: FINBENCH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682A62D-DA96-F40E-215F-4B02CF42E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3901" y="1787525"/>
            <a:ext cx="7296150" cy="4355081"/>
          </a:xfrm>
        </p:spPr>
        <p:txBody>
          <a:bodyPr>
            <a:normAutofit fontScale="70000" lnSpcReduction="20000"/>
          </a:bodyPr>
          <a:lstStyle/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Paper: The LDBC Financial Benchmark: Transaction Workload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Venue / Year: PVLDB, 2025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Authors: </a:t>
            </a:r>
            <a:r>
              <a:rPr lang="en-US" sz="2200" dirty="0" err="1">
                <a:latin typeface="Play" panose="020B0604020202020204" charset="0"/>
              </a:rPr>
              <a:t>Shipeng</a:t>
            </a:r>
            <a:r>
              <a:rPr lang="en-US" sz="2200" dirty="0">
                <a:latin typeface="Play" panose="020B0604020202020204" charset="0"/>
              </a:rPr>
              <a:t> Qi et al.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Institutions: Ant Group, Tsinghua University, Peking University, HKUST(GZ), LDBC, and others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Main findings: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Problem: older graph benchmarks do not cover financial graphs very well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Method: it builds an LDBC-style benchmark with scalable data generator, parameter tuning, update stream and time-based driver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Key results: it shows new bottlenecks in time-window queries, recursive path filtering, and read-write transactions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Strength: it takes graph benchmarking beyond only social-network cases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Weakness: it is still mainly a transaction benchmark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My difference: I will take this transaction idea and combine it with analytics and scale-out</a:t>
            </a:r>
          </a:p>
        </p:txBody>
      </p:sp>
      <p:pic>
        <p:nvPicPr>
          <p:cNvPr id="6" name="Resim 5" descr="metin, ekran görüntüsü, çizgi, yazı tip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79E2A0E4-9155-4D4A-6C5D-05F824935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051" y="3146110"/>
            <a:ext cx="3848796" cy="1798030"/>
          </a:xfrm>
          <a:prstGeom prst="rect">
            <a:avLst/>
          </a:prstGeom>
        </p:spPr>
      </p:pic>
      <p:sp>
        <p:nvSpPr>
          <p:cNvPr id="7" name="Google Shape;146;p19">
            <a:extLst>
              <a:ext uri="{FF2B5EF4-FFF2-40B4-BE49-F238E27FC236}">
                <a16:creationId xmlns:a16="http://schemas.microsoft.com/office/drawing/2014/main" id="{4A8D29AB-A0BE-D031-5995-40C626EA4AC6}"/>
              </a:ext>
            </a:extLst>
          </p:cNvPr>
          <p:cNvSpPr txBox="1">
            <a:spLocks/>
          </p:cNvSpPr>
          <p:nvPr/>
        </p:nvSpPr>
        <p:spPr>
          <a:xfrm>
            <a:off x="447675" y="6343625"/>
            <a:ext cx="11017958" cy="326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1000"/>
              </a:spcBef>
              <a:buSzPts val="902"/>
            </a:pPr>
            <a:r>
              <a:rPr lang="en-GB" sz="1000" dirty="0">
                <a:latin typeface="Play"/>
                <a:ea typeface="Play"/>
                <a:cs typeface="Play"/>
                <a:sym typeface="Play"/>
              </a:rPr>
              <a:t>Diagram source: </a:t>
            </a:r>
            <a:r>
              <a:rPr lang="en-US" sz="1000" dirty="0">
                <a:latin typeface="Play" panose="020B0604020202020204" charset="0"/>
              </a:rPr>
              <a:t>The LDBC Financial Benchmark: Transaction Workload</a:t>
            </a:r>
            <a:endParaRPr lang="en-US" sz="1000" dirty="0">
              <a:latin typeface="Play"/>
              <a:ea typeface="Play"/>
              <a:cs typeface="Play"/>
              <a:sym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3683299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A45E257-360D-C6DC-87C3-1609040D6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99" y="232153"/>
            <a:ext cx="10744201" cy="713812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Play" panose="020B0604020202020204" charset="0"/>
              </a:rPr>
              <a:t>PAPER 2: SNB INTERACTIVE V2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682A62D-DA96-F40E-215F-4B02CF42E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3901" y="1787524"/>
            <a:ext cx="7319720" cy="4194822"/>
          </a:xfrm>
        </p:spPr>
        <p:txBody>
          <a:bodyPr>
            <a:normAutofit fontScale="70000" lnSpcReduction="20000"/>
          </a:bodyPr>
          <a:lstStyle/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Paper: </a:t>
            </a:r>
            <a:r>
              <a:rPr lang="en-US" sz="2000" dirty="0"/>
              <a:t>The LDBC Social Network Benchmark Interactive Workload v2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Year: 2023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Authors: Dávid </a:t>
            </a:r>
            <a:r>
              <a:rPr lang="en-US" sz="2200" dirty="0" err="1">
                <a:latin typeface="Play" panose="020B0604020202020204" charset="0"/>
              </a:rPr>
              <a:t>Puroja</a:t>
            </a:r>
            <a:r>
              <a:rPr lang="en-US" sz="2200" dirty="0">
                <a:latin typeface="Play" panose="020B0604020202020204" charset="0"/>
              </a:rPr>
              <a:t>, </a:t>
            </a:r>
            <a:r>
              <a:rPr lang="en-US" sz="2200" dirty="0" err="1">
                <a:latin typeface="Play" panose="020B0604020202020204" charset="0"/>
              </a:rPr>
              <a:t>Gábor</a:t>
            </a:r>
            <a:r>
              <a:rPr lang="en-US" sz="2200" dirty="0">
                <a:latin typeface="Play" panose="020B0604020202020204" charset="0"/>
              </a:rPr>
              <a:t> </a:t>
            </a:r>
            <a:r>
              <a:rPr lang="en-US" sz="2200" dirty="0" err="1">
                <a:latin typeface="Play" panose="020B0604020202020204" charset="0"/>
              </a:rPr>
              <a:t>Szárnyas</a:t>
            </a:r>
            <a:r>
              <a:rPr lang="en-US" sz="2200" dirty="0">
                <a:latin typeface="Play" panose="020B0604020202020204" charset="0"/>
              </a:rPr>
              <a:t>, Jack </a:t>
            </a:r>
            <a:r>
              <a:rPr lang="en-US" sz="2200" dirty="0" err="1">
                <a:latin typeface="Play" panose="020B0604020202020204" charset="0"/>
              </a:rPr>
              <a:t>Waudby</a:t>
            </a:r>
            <a:r>
              <a:rPr lang="en-US" sz="2200" dirty="0">
                <a:latin typeface="Play" panose="020B0604020202020204" charset="0"/>
              </a:rPr>
              <a:t>, Peter </a:t>
            </a:r>
            <a:r>
              <a:rPr lang="en-US" sz="2200" dirty="0" err="1">
                <a:latin typeface="Play" panose="020B0604020202020204" charset="0"/>
              </a:rPr>
              <a:t>Boncz</a:t>
            </a:r>
            <a:r>
              <a:rPr lang="en-US" sz="2200" dirty="0">
                <a:latin typeface="Play" panose="020B0604020202020204" charset="0"/>
              </a:rPr>
              <a:t>, and others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Institutions: CWI, Newcastle University, LDBC and collaborators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Main findings: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Problem: older transaction benchmarks for graphs needed better delete support, scaling and more clear rules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Method: it builds a stronger benchmark design with parameter tuning, scheduling, latency tracking, and auditing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Key results: it brings deep delete operations, 95% on-time rule and ACID checks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Strength: its benchmark method is very strong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Weakness: it still focuses only on transaction side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My difference: I will take these transaction patterns but combine them with analytics and scale-out</a:t>
            </a:r>
          </a:p>
        </p:txBody>
      </p:sp>
      <p:pic>
        <p:nvPicPr>
          <p:cNvPr id="8" name="Resim 7" descr="metin, ekran görüntüsü, yazı tipi, sayı, numara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1DB3B5B0-9252-ED16-7189-8805AF3E2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4359" y="2894151"/>
            <a:ext cx="3822753" cy="1555361"/>
          </a:xfrm>
          <a:prstGeom prst="rect">
            <a:avLst/>
          </a:prstGeom>
        </p:spPr>
      </p:pic>
      <p:sp>
        <p:nvSpPr>
          <p:cNvPr id="9" name="Google Shape;146;p19">
            <a:extLst>
              <a:ext uri="{FF2B5EF4-FFF2-40B4-BE49-F238E27FC236}">
                <a16:creationId xmlns:a16="http://schemas.microsoft.com/office/drawing/2014/main" id="{19683CFF-E31C-16E2-4E78-A07E9FDB7D3F}"/>
              </a:ext>
            </a:extLst>
          </p:cNvPr>
          <p:cNvSpPr txBox="1">
            <a:spLocks/>
          </p:cNvSpPr>
          <p:nvPr/>
        </p:nvSpPr>
        <p:spPr>
          <a:xfrm>
            <a:off x="447675" y="6343625"/>
            <a:ext cx="11017958" cy="326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1000"/>
              </a:spcBef>
              <a:buSzPts val="902"/>
            </a:pPr>
            <a:r>
              <a:rPr lang="en-GB" sz="1000" dirty="0">
                <a:latin typeface="Play"/>
                <a:ea typeface="Play"/>
                <a:cs typeface="Play"/>
                <a:sym typeface="Play"/>
              </a:rPr>
              <a:t>Diagram source: </a:t>
            </a:r>
            <a:r>
              <a:rPr lang="en-US" sz="1000" dirty="0"/>
              <a:t>The LDBC Social Network Benchmark Interactive Workload v2</a:t>
            </a:r>
            <a:endParaRPr lang="en-US" sz="1000" dirty="0">
              <a:latin typeface="Play"/>
              <a:ea typeface="Play"/>
              <a:cs typeface="Play"/>
              <a:sym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1713287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A45E257-360D-C6DC-87C3-1609040D6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99" y="232153"/>
            <a:ext cx="10744201" cy="713812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Play" panose="020B0604020202020204" charset="0"/>
              </a:rPr>
              <a:t>PAPER 3: SNB BI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682A62D-DA96-F40E-215F-4B02CF42E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3901" y="1787524"/>
            <a:ext cx="7319720" cy="4194822"/>
          </a:xfrm>
        </p:spPr>
        <p:txBody>
          <a:bodyPr>
            <a:normAutofit fontScale="70000" lnSpcReduction="20000"/>
          </a:bodyPr>
          <a:lstStyle/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Paper: </a:t>
            </a:r>
            <a:r>
              <a:rPr lang="en-US" sz="2000" dirty="0">
                <a:latin typeface="Play" panose="020B0604020202020204" charset="0"/>
              </a:rPr>
              <a:t>The LDBC Social Network Benchmark: Business Intelligence Workload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Year: 2022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Authors: </a:t>
            </a:r>
            <a:r>
              <a:rPr lang="en-US" sz="2200" dirty="0" err="1">
                <a:latin typeface="Play" panose="020B0604020202020204" charset="0"/>
              </a:rPr>
              <a:t>Gábor</a:t>
            </a:r>
            <a:r>
              <a:rPr lang="en-US" sz="2200" dirty="0">
                <a:latin typeface="Play" panose="020B0604020202020204" charset="0"/>
              </a:rPr>
              <a:t> </a:t>
            </a:r>
            <a:r>
              <a:rPr lang="en-US" sz="2200" dirty="0" err="1">
                <a:latin typeface="Play" panose="020B0604020202020204" charset="0"/>
              </a:rPr>
              <a:t>Szárnyas</a:t>
            </a:r>
            <a:r>
              <a:rPr lang="en-US" sz="2200" dirty="0">
                <a:latin typeface="Play" panose="020B0604020202020204" charset="0"/>
              </a:rPr>
              <a:t>, Jack </a:t>
            </a:r>
            <a:r>
              <a:rPr lang="en-US" sz="2200" dirty="0" err="1">
                <a:latin typeface="Play" panose="020B0604020202020204" charset="0"/>
              </a:rPr>
              <a:t>Waudby</a:t>
            </a:r>
            <a:r>
              <a:rPr lang="en-US" sz="2200" dirty="0">
                <a:latin typeface="Play" panose="020B0604020202020204" charset="0"/>
              </a:rPr>
              <a:t>, Benjamin A. Steer, Dávid </a:t>
            </a:r>
            <a:r>
              <a:rPr lang="en-US" sz="2200" dirty="0" err="1">
                <a:latin typeface="Play" panose="020B0604020202020204" charset="0"/>
              </a:rPr>
              <a:t>Szakállas</a:t>
            </a:r>
            <a:r>
              <a:rPr lang="en-US" sz="2200" dirty="0">
                <a:latin typeface="Play" panose="020B0604020202020204" charset="0"/>
              </a:rPr>
              <a:t>, </a:t>
            </a:r>
            <a:r>
              <a:rPr lang="en-US" sz="2200" dirty="0" err="1">
                <a:latin typeface="Play" panose="020B0604020202020204" charset="0"/>
              </a:rPr>
              <a:t>Altan</a:t>
            </a:r>
            <a:r>
              <a:rPr lang="en-US" sz="2200" dirty="0">
                <a:latin typeface="Play" panose="020B0604020202020204" charset="0"/>
              </a:rPr>
              <a:t> </a:t>
            </a:r>
            <a:r>
              <a:rPr lang="en-US" sz="2200" dirty="0" err="1">
                <a:latin typeface="Play" panose="020B0604020202020204" charset="0"/>
              </a:rPr>
              <a:t>Birler</a:t>
            </a:r>
            <a:r>
              <a:rPr lang="en-US" sz="2200" dirty="0">
                <a:latin typeface="Play" panose="020B0604020202020204" charset="0"/>
              </a:rPr>
              <a:t>, </a:t>
            </a:r>
            <a:r>
              <a:rPr lang="en-US" sz="2200" dirty="0" err="1">
                <a:latin typeface="Play" panose="020B0604020202020204" charset="0"/>
              </a:rPr>
              <a:t>Mingxi</a:t>
            </a:r>
            <a:r>
              <a:rPr lang="en-US" sz="2200" dirty="0">
                <a:latin typeface="Play" panose="020B0604020202020204" charset="0"/>
              </a:rPr>
              <a:t> Wu, Yuchen Zhang, Peter </a:t>
            </a:r>
            <a:r>
              <a:rPr lang="en-US" sz="2200" dirty="0" err="1">
                <a:latin typeface="Play" panose="020B0604020202020204" charset="0"/>
              </a:rPr>
              <a:t>Boncz</a:t>
            </a:r>
            <a:endParaRPr lang="en-US" sz="2200" dirty="0">
              <a:latin typeface="Play" panose="020B0604020202020204" charset="0"/>
            </a:endParaRP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Institutions: </a:t>
            </a:r>
            <a:r>
              <a:rPr lang="en-US" sz="2000" dirty="0">
                <a:latin typeface="Play" panose="020B0604020202020204" charset="0"/>
              </a:rPr>
              <a:t>CWI, Newcastle University, </a:t>
            </a:r>
            <a:r>
              <a:rPr lang="en-US" sz="2000" dirty="0" err="1">
                <a:latin typeface="Play" panose="020B0604020202020204" charset="0"/>
              </a:rPr>
              <a:t>Pometry</a:t>
            </a:r>
            <a:r>
              <a:rPr lang="en-US" sz="2000" dirty="0">
                <a:latin typeface="Play" panose="020B0604020202020204" charset="0"/>
              </a:rPr>
              <a:t>, TUM, </a:t>
            </a:r>
            <a:r>
              <a:rPr lang="en-US" sz="2000" dirty="0" err="1">
                <a:latin typeface="Play" panose="020B0604020202020204" charset="0"/>
              </a:rPr>
              <a:t>TigerGraph</a:t>
            </a:r>
            <a:r>
              <a:rPr lang="en-US" sz="2000" dirty="0">
                <a:latin typeface="Play" panose="020B0604020202020204" charset="0"/>
              </a:rPr>
              <a:t>, and collaborators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Main findings: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Problem: graph systems needed a realistic and portable OLAP benchmark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Method: it builds the benchmark with choke-point design, scalable data generation, updates, and parameter tuning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Key results: it gives strong portability and clear power and throughput metrics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Strength: very strong benchmark method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Weakness: not a full mixed OLTP+OLAP benchmark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My difference: I will take its analytics side, but use a more portable subset and add scale-out</a:t>
            </a:r>
          </a:p>
        </p:txBody>
      </p:sp>
      <p:pic>
        <p:nvPicPr>
          <p:cNvPr id="7" name="Resim 6" descr="metin, ekran görüntüsü, yazı tipi, sayı, numara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5F71E3FF-C02A-C2A2-BC75-7B83E4A99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045" y="1787524"/>
            <a:ext cx="3111261" cy="3963426"/>
          </a:xfrm>
          <a:prstGeom prst="rect">
            <a:avLst/>
          </a:prstGeom>
        </p:spPr>
      </p:pic>
      <p:sp>
        <p:nvSpPr>
          <p:cNvPr id="11" name="Google Shape;146;p19">
            <a:extLst>
              <a:ext uri="{FF2B5EF4-FFF2-40B4-BE49-F238E27FC236}">
                <a16:creationId xmlns:a16="http://schemas.microsoft.com/office/drawing/2014/main" id="{14ABD610-AF46-80E0-BAA8-D097B8F09363}"/>
              </a:ext>
            </a:extLst>
          </p:cNvPr>
          <p:cNvSpPr txBox="1">
            <a:spLocks/>
          </p:cNvSpPr>
          <p:nvPr/>
        </p:nvSpPr>
        <p:spPr>
          <a:xfrm>
            <a:off x="447675" y="6343625"/>
            <a:ext cx="11017958" cy="326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1000"/>
              </a:spcBef>
              <a:buSzPts val="902"/>
            </a:pPr>
            <a:r>
              <a:rPr lang="en-GB" sz="1000" dirty="0">
                <a:latin typeface="Play"/>
                <a:ea typeface="Play"/>
                <a:cs typeface="Play"/>
                <a:sym typeface="Play"/>
              </a:rPr>
              <a:t>Diagram source: </a:t>
            </a:r>
            <a:r>
              <a:rPr lang="en-US" sz="1000" dirty="0">
                <a:latin typeface="Play" panose="020B0604020202020204" charset="0"/>
              </a:rPr>
              <a:t>The LDBC Social Network Benchmark: Business Intelligence Workload</a:t>
            </a:r>
            <a:endParaRPr lang="en-US" sz="1000" dirty="0">
              <a:latin typeface="Play"/>
              <a:ea typeface="Play"/>
              <a:cs typeface="Play"/>
              <a:sym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772109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A45E257-360D-C6DC-87C3-1609040D6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99" y="232153"/>
            <a:ext cx="10744201" cy="713812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Play" panose="020B0604020202020204" charset="0"/>
              </a:rPr>
              <a:t>PAPER 4: GALAXYBASE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682A62D-DA96-F40E-215F-4B02CF42E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3901" y="1787524"/>
            <a:ext cx="7319720" cy="4194822"/>
          </a:xfrm>
        </p:spPr>
        <p:txBody>
          <a:bodyPr>
            <a:normAutofit fontScale="70000" lnSpcReduction="20000"/>
          </a:bodyPr>
          <a:lstStyle/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Paper: </a:t>
            </a:r>
            <a:r>
              <a:rPr lang="en-US" sz="2200" dirty="0" err="1">
                <a:latin typeface="Play" panose="020B0604020202020204" charset="0"/>
              </a:rPr>
              <a:t>Galaxybase</a:t>
            </a:r>
            <a:r>
              <a:rPr lang="en-US" sz="2200" dirty="0">
                <a:latin typeface="Play" panose="020B0604020202020204" charset="0"/>
              </a:rPr>
              <a:t>: A High Performance Native Distributed Graph Database for HTAP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Venue / Year: PVLDB, 2024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Authors: Bing Tong et al.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Institutions: </a:t>
            </a:r>
            <a:r>
              <a:rPr lang="en-US" sz="2200" dirty="0" err="1">
                <a:latin typeface="Play" panose="020B0604020202020204" charset="0"/>
              </a:rPr>
              <a:t>CreateLink</a:t>
            </a:r>
            <a:r>
              <a:rPr lang="en-US" sz="2200" dirty="0">
                <a:latin typeface="Play" panose="020B0604020202020204" charset="0"/>
              </a:rPr>
              <a:t> and HKUST(GZ)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Main findings: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Problem: how to support mixed workloads in one distributed graph system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Method: native graph storage, separate modules and graph-aware transaction design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Key results: strong throughput and good scale-out results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Strength: shows clearly why mixed workloads matter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Weakness: not a portable benchmark paper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My difference: I will compare multiple open source systems with one common benchmark setup</a:t>
            </a:r>
          </a:p>
        </p:txBody>
      </p:sp>
      <p:pic>
        <p:nvPicPr>
          <p:cNvPr id="6" name="Resim 5" descr="metin, çizgi, öykü gelişim çizgisi; kumpas; grafiğini çıkarma, diyagram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8282368C-1763-7072-ED76-7DEFA68AE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852" y="2860550"/>
            <a:ext cx="3541362" cy="2048769"/>
          </a:xfrm>
          <a:prstGeom prst="rect">
            <a:avLst/>
          </a:prstGeom>
        </p:spPr>
      </p:pic>
      <p:sp>
        <p:nvSpPr>
          <p:cNvPr id="8" name="Google Shape;146;p19">
            <a:extLst>
              <a:ext uri="{FF2B5EF4-FFF2-40B4-BE49-F238E27FC236}">
                <a16:creationId xmlns:a16="http://schemas.microsoft.com/office/drawing/2014/main" id="{C35D3EA5-8070-14F1-8C08-FB7088D29B76}"/>
              </a:ext>
            </a:extLst>
          </p:cNvPr>
          <p:cNvSpPr txBox="1">
            <a:spLocks/>
          </p:cNvSpPr>
          <p:nvPr/>
        </p:nvSpPr>
        <p:spPr>
          <a:xfrm>
            <a:off x="447675" y="6343625"/>
            <a:ext cx="11017958" cy="326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1000"/>
              </a:spcBef>
              <a:buSzPts val="902"/>
            </a:pPr>
            <a:r>
              <a:rPr lang="en-GB" sz="1000" dirty="0">
                <a:latin typeface="Play"/>
                <a:ea typeface="Play"/>
                <a:cs typeface="Play"/>
                <a:sym typeface="Play"/>
              </a:rPr>
              <a:t>Diagram source: </a:t>
            </a:r>
            <a:r>
              <a:rPr lang="en-US" sz="1000" dirty="0" err="1">
                <a:latin typeface="Play" panose="020B0604020202020204" charset="0"/>
              </a:rPr>
              <a:t>Galaxybase</a:t>
            </a:r>
            <a:r>
              <a:rPr lang="en-US" sz="1000" dirty="0">
                <a:latin typeface="Play" panose="020B0604020202020204" charset="0"/>
              </a:rPr>
              <a:t>: A High Performance Native Distributed Graph Database for HTAP</a:t>
            </a:r>
            <a:endParaRPr lang="en-US" sz="1000" dirty="0">
              <a:latin typeface="Play"/>
              <a:ea typeface="Play"/>
              <a:cs typeface="Play"/>
              <a:sym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2207054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A45E257-360D-C6DC-87C3-1609040D6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99" y="232153"/>
            <a:ext cx="10744201" cy="713812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Play" panose="020B0604020202020204" charset="0"/>
              </a:rPr>
              <a:t>PAPER 5: G-TRAN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682A62D-DA96-F40E-215F-4B02CF42E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3901" y="1787524"/>
            <a:ext cx="7319720" cy="4194822"/>
          </a:xfrm>
        </p:spPr>
        <p:txBody>
          <a:bodyPr>
            <a:normAutofit fontScale="70000" lnSpcReduction="20000"/>
          </a:bodyPr>
          <a:lstStyle/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Paper: G-Tran: Efficient Distributed Graph Transactions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Venue / Year: </a:t>
            </a:r>
            <a:r>
              <a:rPr lang="en-US" sz="2200" dirty="0" err="1">
                <a:latin typeface="Play" panose="020B0604020202020204" charset="0"/>
              </a:rPr>
              <a:t>EuroSys</a:t>
            </a:r>
            <a:r>
              <a:rPr lang="en-US" sz="2200" dirty="0">
                <a:latin typeface="Play" panose="020B0604020202020204" charset="0"/>
              </a:rPr>
              <a:t>, 2024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Authors: </a:t>
            </a:r>
            <a:r>
              <a:rPr lang="en-US" sz="2200" dirty="0" err="1">
                <a:latin typeface="Play" panose="020B0604020202020204" charset="0"/>
              </a:rPr>
              <a:t>Zhaoyang</a:t>
            </a:r>
            <a:r>
              <a:rPr lang="en-US" sz="2200" dirty="0">
                <a:latin typeface="Play" panose="020B0604020202020204" charset="0"/>
              </a:rPr>
              <a:t> Wang et al.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Institutions: National University of Singapore and collaborators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Main findings: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Problem: distributed graph transactions are hard because graph access is irregular and cross partition work is costly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Method: specialized transaction design for distributed graph workloads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Key results: better performance than strong baselines, with good scale-up and scale-out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Strength: strong focus on transaction efficiency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Weakness: not focused on mixed workloads or portable benchmarking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My difference: I will study mixed workloads, not only transaction efficiency</a:t>
            </a:r>
          </a:p>
        </p:txBody>
      </p:sp>
      <p:pic>
        <p:nvPicPr>
          <p:cNvPr id="9" name="Resim 8" descr="metin, çizgi, diyagram, paralel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669076AC-DF48-9FD0-26E1-1117096B5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902" y="1441342"/>
            <a:ext cx="2857520" cy="3975315"/>
          </a:xfrm>
          <a:prstGeom prst="rect">
            <a:avLst/>
          </a:prstGeom>
        </p:spPr>
      </p:pic>
      <p:sp>
        <p:nvSpPr>
          <p:cNvPr id="10" name="Google Shape;146;p19">
            <a:extLst>
              <a:ext uri="{FF2B5EF4-FFF2-40B4-BE49-F238E27FC236}">
                <a16:creationId xmlns:a16="http://schemas.microsoft.com/office/drawing/2014/main" id="{60C9D1C8-C6A6-349A-D66C-2A8267CC1250}"/>
              </a:ext>
            </a:extLst>
          </p:cNvPr>
          <p:cNvSpPr txBox="1">
            <a:spLocks/>
          </p:cNvSpPr>
          <p:nvPr/>
        </p:nvSpPr>
        <p:spPr>
          <a:xfrm>
            <a:off x="447675" y="6343625"/>
            <a:ext cx="11017958" cy="326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1000"/>
              </a:spcBef>
              <a:buSzPts val="902"/>
            </a:pPr>
            <a:r>
              <a:rPr lang="en-GB" sz="1000" dirty="0">
                <a:latin typeface="Play"/>
                <a:ea typeface="Play"/>
                <a:cs typeface="Play"/>
                <a:sym typeface="Play"/>
              </a:rPr>
              <a:t>Diagram source: </a:t>
            </a:r>
            <a:r>
              <a:rPr lang="en-US" sz="1000" dirty="0">
                <a:latin typeface="Play" panose="020B0604020202020204" charset="0"/>
              </a:rPr>
              <a:t>G-Tran: Efficient Distributed Graph Transactions</a:t>
            </a:r>
            <a:endParaRPr lang="en-US" sz="1000" dirty="0">
              <a:latin typeface="Play"/>
              <a:ea typeface="Play"/>
              <a:cs typeface="Play"/>
              <a:sym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1436720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A45E257-360D-C6DC-87C3-1609040D6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99" y="232153"/>
            <a:ext cx="10744201" cy="713812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Play" panose="020B0604020202020204" charset="0"/>
              </a:rPr>
              <a:t>PAPER 6: BACH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682A62D-DA96-F40E-215F-4B02CF42E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3901" y="1787524"/>
            <a:ext cx="6857114" cy="4194822"/>
          </a:xfrm>
        </p:spPr>
        <p:txBody>
          <a:bodyPr>
            <a:normAutofit fontScale="70000" lnSpcReduction="20000"/>
          </a:bodyPr>
          <a:lstStyle/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Paper: BACH: Bridging Adjacency List and CSR Format using LSM-Trees for HGTAP Workloads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Venue / Year: PVLDB, 2025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Authors: </a:t>
            </a:r>
            <a:r>
              <a:rPr lang="en-US" sz="2200" dirty="0" err="1">
                <a:latin typeface="Play" panose="020B0604020202020204" charset="0"/>
              </a:rPr>
              <a:t>Jianfeng</a:t>
            </a:r>
            <a:r>
              <a:rPr lang="en-US" sz="2200" dirty="0">
                <a:latin typeface="Play" panose="020B0604020202020204" charset="0"/>
              </a:rPr>
              <a:t> Huang, </a:t>
            </a:r>
            <a:r>
              <a:rPr lang="en-US" sz="2200" dirty="0" err="1">
                <a:latin typeface="Play" panose="020B0604020202020204" charset="0"/>
              </a:rPr>
              <a:t>Yihao</a:t>
            </a:r>
            <a:r>
              <a:rPr lang="en-US" sz="2200" dirty="0">
                <a:latin typeface="Play" panose="020B0604020202020204" charset="0"/>
              </a:rPr>
              <a:t> Cao, </a:t>
            </a:r>
            <a:r>
              <a:rPr lang="en-US" sz="2200" dirty="0" err="1">
                <a:latin typeface="Play" panose="020B0604020202020204" charset="0"/>
              </a:rPr>
              <a:t>Shubing</a:t>
            </a:r>
            <a:r>
              <a:rPr lang="en-US" sz="2200" dirty="0">
                <a:latin typeface="Play" panose="020B0604020202020204" charset="0"/>
              </a:rPr>
              <a:t> Ren, </a:t>
            </a:r>
            <a:r>
              <a:rPr lang="en-US" sz="2200" dirty="0" err="1">
                <a:latin typeface="Play" panose="020B0604020202020204" charset="0"/>
              </a:rPr>
              <a:t>Baohua</a:t>
            </a:r>
            <a:r>
              <a:rPr lang="en-US" sz="2200" dirty="0">
                <a:latin typeface="Play" panose="020B0604020202020204" charset="0"/>
              </a:rPr>
              <a:t> Wu, </a:t>
            </a:r>
            <a:r>
              <a:rPr lang="en-US" sz="2200" dirty="0" err="1">
                <a:latin typeface="Play" panose="020B0604020202020204" charset="0"/>
              </a:rPr>
              <a:t>Dongjing</a:t>
            </a:r>
            <a:r>
              <a:rPr lang="en-US" sz="2200" dirty="0">
                <a:latin typeface="Play" panose="020B0604020202020204" charset="0"/>
              </a:rPr>
              <a:t> Miao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Institutions: Harbin Institute of Technology, Central South University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Play" panose="020B0604020202020204" charset="0"/>
              </a:rPr>
              <a:t>Main findings: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Problem: one storage layout cannot fit all graph workloads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Method: it combines two storage styles in one design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Key results: strong results in interactive, BI and mixed tests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Strength: shows why storage layout matters in mixed workloads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Weakness: not a portable benchmark method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My difference: I will measure similar tradeoffs across multiple open source systems</a:t>
            </a:r>
          </a:p>
        </p:txBody>
      </p:sp>
      <p:pic>
        <p:nvPicPr>
          <p:cNvPr id="6" name="Resim 5" descr="metin, diyagram, ekran görüntüsü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8209C55F-56DD-B199-F4F3-7884FD220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426" y="2402958"/>
            <a:ext cx="3635343" cy="2700669"/>
          </a:xfrm>
          <a:prstGeom prst="rect">
            <a:avLst/>
          </a:prstGeom>
        </p:spPr>
      </p:pic>
      <p:sp>
        <p:nvSpPr>
          <p:cNvPr id="7" name="Google Shape;146;p19">
            <a:extLst>
              <a:ext uri="{FF2B5EF4-FFF2-40B4-BE49-F238E27FC236}">
                <a16:creationId xmlns:a16="http://schemas.microsoft.com/office/drawing/2014/main" id="{8AEBF36C-AA37-654B-1F38-C82236386433}"/>
              </a:ext>
            </a:extLst>
          </p:cNvPr>
          <p:cNvSpPr txBox="1">
            <a:spLocks/>
          </p:cNvSpPr>
          <p:nvPr/>
        </p:nvSpPr>
        <p:spPr>
          <a:xfrm>
            <a:off x="447675" y="6343625"/>
            <a:ext cx="11017958" cy="326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1000"/>
              </a:spcBef>
              <a:buSzPts val="902"/>
            </a:pPr>
            <a:r>
              <a:rPr lang="en-GB" sz="1000" dirty="0">
                <a:latin typeface="Play"/>
                <a:ea typeface="Play"/>
                <a:cs typeface="Play"/>
                <a:sym typeface="Play"/>
              </a:rPr>
              <a:t>Diagram source: </a:t>
            </a:r>
            <a:r>
              <a:rPr lang="en-US" sz="1000" dirty="0">
                <a:latin typeface="Play" panose="020B0604020202020204" charset="0"/>
              </a:rPr>
              <a:t>https://vivekbansal.substack.com/p/what-is-lsm-tree</a:t>
            </a:r>
            <a:endParaRPr lang="en-US" sz="1000" dirty="0">
              <a:latin typeface="Play"/>
              <a:ea typeface="Play"/>
              <a:cs typeface="Play"/>
              <a:sym typeface="Play"/>
            </a:endParaRPr>
          </a:p>
        </p:txBody>
      </p:sp>
    </p:spTree>
    <p:extLst>
      <p:ext uri="{BB962C8B-B14F-4D97-AF65-F5344CB8AC3E}">
        <p14:creationId xmlns:p14="http://schemas.microsoft.com/office/powerpoint/2010/main" val="13108632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A45E257-360D-C6DC-87C3-1609040D6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99" y="232153"/>
            <a:ext cx="10744201" cy="713812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Play" panose="020B0604020202020204" charset="0"/>
              </a:rPr>
              <a:t>WHAT MAKES A GOOD BENCHMARKING PAPER?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682A62D-DA96-F40E-215F-4B02CF42E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3901" y="1787524"/>
            <a:ext cx="10741732" cy="4194822"/>
          </a:xfrm>
        </p:spPr>
        <p:txBody>
          <a:bodyPr>
            <a:normAutofit/>
          </a:bodyPr>
          <a:lstStyle/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Clear scope and research gap from the start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Separate section for benchmark design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Separate and clear experimental setup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Clear metrics and fair comparison rules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Results in logical order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Play" panose="020B0604020202020204" charset="0"/>
              </a:rPr>
              <a:t>Open discussion of limitations</a:t>
            </a:r>
          </a:p>
        </p:txBody>
      </p:sp>
    </p:spTree>
    <p:extLst>
      <p:ext uri="{BB962C8B-B14F-4D97-AF65-F5344CB8AC3E}">
        <p14:creationId xmlns:p14="http://schemas.microsoft.com/office/powerpoint/2010/main" val="690353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A45E257-360D-C6DC-87C3-1609040D6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99" y="232153"/>
            <a:ext cx="10744201" cy="713812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Play" panose="020B0604020202020204" charset="0"/>
              </a:rPr>
              <a:t>HOW SHOULD EXPERIMENTS BE DESIGNED?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682A62D-DA96-F40E-215F-4B02CF42E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3901" y="1787524"/>
            <a:ext cx="10741732" cy="4194822"/>
          </a:xfrm>
        </p:spPr>
        <p:txBody>
          <a:bodyPr>
            <a:normAutofit/>
          </a:bodyPr>
          <a:lstStyle/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lay" panose="020B0604020202020204" charset="0"/>
              </a:rPr>
              <a:t>Systems should be compared on a common subset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lay" panose="020B0604020202020204" charset="0"/>
              </a:rPr>
              <a:t>Transaction, analytics, and mixed workloads should be separated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lay" panose="020B0604020202020204" charset="0"/>
              </a:rPr>
              <a:t>Hardware, configuration and tuning should be reported clearly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lay" panose="020B0604020202020204" charset="0"/>
              </a:rPr>
              <a:t>Metrics should be fair for all systems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lay" panose="020B0604020202020204" charset="0"/>
              </a:rPr>
              <a:t>Experiments should come in clear order</a:t>
            </a:r>
          </a:p>
          <a:p>
            <a:pPr marL="10287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lay" panose="020B0604020202020204" charset="0"/>
              </a:rPr>
              <a:t>baseline → mixed workload → scale-out</a:t>
            </a:r>
          </a:p>
        </p:txBody>
      </p:sp>
    </p:spTree>
    <p:extLst>
      <p:ext uri="{BB962C8B-B14F-4D97-AF65-F5344CB8AC3E}">
        <p14:creationId xmlns:p14="http://schemas.microsoft.com/office/powerpoint/2010/main" val="680392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A45E257-360D-C6DC-87C3-1609040D6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99" y="232153"/>
            <a:ext cx="10744201" cy="713812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Play" panose="020B0604020202020204" charset="0"/>
              </a:rPr>
              <a:t>HOW SHOULD RESULTS BE PRESENTED?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682A62D-DA96-F40E-215F-4B02CF42E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3901" y="1787524"/>
            <a:ext cx="10741732" cy="4194822"/>
          </a:xfrm>
        </p:spPr>
        <p:txBody>
          <a:bodyPr>
            <a:normAutofit/>
          </a:bodyPr>
          <a:lstStyle/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lay" panose="020B0604020202020204" charset="0"/>
              </a:rPr>
              <a:t>Each figure should answer one clear question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lay" panose="020B0604020202020204" charset="0"/>
              </a:rPr>
              <a:t>Use clear figures to show how benchmark works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lay" panose="020B0604020202020204" charset="0"/>
              </a:rPr>
              <a:t>Use result figures to show one performance point each time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lay" panose="020B0604020202020204" charset="0"/>
              </a:rPr>
              <a:t>Do not use too many disconnected charts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lay" panose="020B0604020202020204" charset="0"/>
              </a:rPr>
              <a:t>Try to build a story, not only show results</a:t>
            </a:r>
          </a:p>
        </p:txBody>
      </p:sp>
    </p:spTree>
    <p:extLst>
      <p:ext uri="{BB962C8B-B14F-4D97-AF65-F5344CB8AC3E}">
        <p14:creationId xmlns:p14="http://schemas.microsoft.com/office/powerpoint/2010/main" val="1736112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A45E257-360D-C6DC-87C3-1609040D6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99" y="232153"/>
            <a:ext cx="10744201" cy="713812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Play" panose="020B0604020202020204" charset="0"/>
              </a:rPr>
              <a:t>MY PLANNED PAPER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682A62D-DA96-F40E-215F-4B02CF42E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3901" y="1787524"/>
            <a:ext cx="10741732" cy="4194822"/>
          </a:xfrm>
        </p:spPr>
        <p:txBody>
          <a:bodyPr>
            <a:normAutofit/>
          </a:bodyPr>
          <a:lstStyle/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lay" panose="020B0604020202020204" charset="0"/>
              </a:rPr>
              <a:t>Paper type: benchmarking paper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lay" panose="020B0604020202020204" charset="0"/>
              </a:rPr>
              <a:t>Goal: show how selected open source distributed graph databases behave when mixed workloads applied and scale-out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lay" panose="020B0604020202020204" charset="0"/>
              </a:rPr>
              <a:t>Workload: transaction, analytics and mixed execution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lay" panose="020B0604020202020204" charset="0"/>
              </a:rPr>
              <a:t>Target systems: open source distributed property graph systems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lay" panose="020B0604020202020204" charset="0"/>
              </a:rPr>
              <a:t>Evaluation: throughput, latency, interference and scale-out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lay" panose="020B0604020202020204" charset="0"/>
              </a:rPr>
              <a:t>Main question: which system choices work well under mixed workloads and which ones struggle?</a:t>
            </a:r>
          </a:p>
        </p:txBody>
      </p:sp>
    </p:spTree>
    <p:extLst>
      <p:ext uri="{BB962C8B-B14F-4D97-AF65-F5344CB8AC3E}">
        <p14:creationId xmlns:p14="http://schemas.microsoft.com/office/powerpoint/2010/main" val="1276877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A45E257-360D-C6DC-87C3-1609040D6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99" y="232153"/>
            <a:ext cx="10744201" cy="713812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Play" panose="020B0604020202020204" charset="0"/>
              </a:rPr>
              <a:t>EXPECTED CONTRIBUTON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682A62D-DA96-F40E-215F-4B02CF42E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3901" y="1787524"/>
            <a:ext cx="10741732" cy="4194822"/>
          </a:xfrm>
        </p:spPr>
        <p:txBody>
          <a:bodyPr>
            <a:normAutofit/>
          </a:bodyPr>
          <a:lstStyle/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lay" panose="020B0604020202020204" charset="0"/>
              </a:rPr>
              <a:t>More portable mixed workload benchmark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lay" panose="020B0604020202020204" charset="0"/>
              </a:rPr>
              <a:t>Focus on open source distributed graph systems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lay" panose="020B0604020202020204" charset="0"/>
              </a:rPr>
              <a:t>Clearer view of performance tradeoffs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lay" panose="020B0604020202020204" charset="0"/>
              </a:rPr>
              <a:t>Controlled study of elastic scale-out</a:t>
            </a:r>
          </a:p>
          <a:p>
            <a:pPr marL="5715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lay" panose="020B0604020202020204" charset="0"/>
              </a:rPr>
              <a:t>Practical benchmark for future graph database research</a:t>
            </a:r>
          </a:p>
        </p:txBody>
      </p:sp>
    </p:spTree>
    <p:extLst>
      <p:ext uri="{BB962C8B-B14F-4D97-AF65-F5344CB8AC3E}">
        <p14:creationId xmlns:p14="http://schemas.microsoft.com/office/powerpoint/2010/main" val="1977868913"/>
      </p:ext>
    </p:extLst>
  </p:cSld>
  <p:clrMapOvr>
    <a:masterClrMapping/>
  </p:clrMapOvr>
</p:sld>
</file>

<file path=ppt/theme/theme1.xml><?xml version="1.0" encoding="utf-8"?>
<a:theme xmlns:a="http://schemas.openxmlformats.org/drawingml/2006/main" name="Celestial">
  <a:themeElements>
    <a:clrScheme name="Celestial">
      <a:dk1>
        <a:srgbClr val="000000"/>
      </a:dk1>
      <a:lt1>
        <a:srgbClr val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1295</Words>
  <Application>Microsoft Office PowerPoint</Application>
  <PresentationFormat>Geniş ekran</PresentationFormat>
  <Paragraphs>144</Paragraphs>
  <Slides>15</Slides>
  <Notes>15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15</vt:i4>
      </vt:variant>
    </vt:vector>
  </HeadingPairs>
  <TitlesOfParts>
    <vt:vector size="20" baseType="lpstr">
      <vt:lpstr>Arial</vt:lpstr>
      <vt:lpstr>Play</vt:lpstr>
      <vt:lpstr>Calibri</vt:lpstr>
      <vt:lpstr>Aptos</vt:lpstr>
      <vt:lpstr>Celestial</vt:lpstr>
      <vt:lpstr>Benchmarking Hybrid Graph Transactional/Analytical Processing and Elastic Scale-Out in Open-Source Distributed Graph Databases</vt:lpstr>
      <vt:lpstr>PRESENTATION ROADMAP</vt:lpstr>
      <vt:lpstr>BACKGROUND AND MOTIVATION</vt:lpstr>
      <vt:lpstr>HOW I ORGANIZED THE RELATED WORK</vt:lpstr>
      <vt:lpstr>PAPER 1: FINBENCH</vt:lpstr>
      <vt:lpstr>PAPER 2: SNB INTERACTIVE V2</vt:lpstr>
      <vt:lpstr>PAPER 3: SNB BI</vt:lpstr>
      <vt:lpstr>PAPER 4: GALAXYBASE</vt:lpstr>
      <vt:lpstr>PAPER 5: G-TRAN</vt:lpstr>
      <vt:lpstr>PAPER 6: BACH</vt:lpstr>
      <vt:lpstr>WHAT MAKES A GOOD BENCHMARKING PAPER?</vt:lpstr>
      <vt:lpstr>HOW SHOULD EXPERIMENTS BE DESIGNED?</vt:lpstr>
      <vt:lpstr>HOW SHOULD RESULTS BE PRESENTED?</vt:lpstr>
      <vt:lpstr>MY PLANNED PAPER</vt:lpstr>
      <vt:lpstr>EXPECTED CONTRIBUTON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Mustafa Can Çalışkan</dc:creator>
  <cp:lastModifiedBy>Mustafa Can Çalışkan</cp:lastModifiedBy>
  <cp:revision>24</cp:revision>
  <dcterms:modified xsi:type="dcterms:W3CDTF">2026-04-07T10:31:42Z</dcterms:modified>
</cp:coreProperties>
</file>