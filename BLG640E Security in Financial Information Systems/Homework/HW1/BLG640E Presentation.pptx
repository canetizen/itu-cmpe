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8877" autoAdjust="0"/>
  </p:normalViewPr>
  <p:slideViewPr>
    <p:cSldViewPr snapToGrid="0">
      <p:cViewPr varScale="1">
        <p:scale>
          <a:sx n="48" d="100"/>
          <a:sy n="48" d="100"/>
        </p:scale>
        <p:origin x="200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Can Çalışkan" userId="93d707d895a7d3b6" providerId="LiveId" clId="{812645DE-AC7E-40A8-A04A-1256D90DBF59}"/>
    <pc:docChg chg="modSld">
      <pc:chgData name="Mustafa Can Çalışkan" userId="93d707d895a7d3b6" providerId="LiveId" clId="{812645DE-AC7E-40A8-A04A-1256D90DBF59}" dt="2026-03-09T19:00:03.124" v="137" actId="20577"/>
      <pc:docMkLst>
        <pc:docMk/>
      </pc:docMkLst>
      <pc:sldChg chg="modNotesTx">
        <pc:chgData name="Mustafa Can Çalışkan" userId="93d707d895a7d3b6" providerId="LiveId" clId="{812645DE-AC7E-40A8-A04A-1256D90DBF59}" dt="2026-03-09T18:57:17.201" v="0"/>
        <pc:sldMkLst>
          <pc:docMk/>
          <pc:sldMk cId="0" sldId="256"/>
        </pc:sldMkLst>
      </pc:sldChg>
      <pc:sldChg chg="modNotesTx">
        <pc:chgData name="Mustafa Can Çalışkan" userId="93d707d895a7d3b6" providerId="LiveId" clId="{812645DE-AC7E-40A8-A04A-1256D90DBF59}" dt="2026-03-09T18:57:23.487" v="1"/>
        <pc:sldMkLst>
          <pc:docMk/>
          <pc:sldMk cId="0" sldId="257"/>
        </pc:sldMkLst>
      </pc:sldChg>
      <pc:sldChg chg="modNotesTx">
        <pc:chgData name="Mustafa Can Çalışkan" userId="93d707d895a7d3b6" providerId="LiveId" clId="{812645DE-AC7E-40A8-A04A-1256D90DBF59}" dt="2026-03-09T18:57:29.423" v="2"/>
        <pc:sldMkLst>
          <pc:docMk/>
          <pc:sldMk cId="0" sldId="258"/>
        </pc:sldMkLst>
      </pc:sldChg>
      <pc:sldChg chg="modNotesTx">
        <pc:chgData name="Mustafa Can Çalışkan" userId="93d707d895a7d3b6" providerId="LiveId" clId="{812645DE-AC7E-40A8-A04A-1256D90DBF59}" dt="2026-03-09T18:57:38.157" v="3"/>
        <pc:sldMkLst>
          <pc:docMk/>
          <pc:sldMk cId="0" sldId="259"/>
        </pc:sldMkLst>
      </pc:sldChg>
      <pc:sldChg chg="modNotesTx">
        <pc:chgData name="Mustafa Can Çalışkan" userId="93d707d895a7d3b6" providerId="LiveId" clId="{812645DE-AC7E-40A8-A04A-1256D90DBF59}" dt="2026-03-09T18:57:44.845" v="4"/>
        <pc:sldMkLst>
          <pc:docMk/>
          <pc:sldMk cId="0" sldId="260"/>
        </pc:sldMkLst>
      </pc:sldChg>
      <pc:sldChg chg="modNotesTx">
        <pc:chgData name="Mustafa Can Çalışkan" userId="93d707d895a7d3b6" providerId="LiveId" clId="{812645DE-AC7E-40A8-A04A-1256D90DBF59}" dt="2026-03-09T18:57:52.181" v="5"/>
        <pc:sldMkLst>
          <pc:docMk/>
          <pc:sldMk cId="0" sldId="261"/>
        </pc:sldMkLst>
      </pc:sldChg>
      <pc:sldChg chg="modNotesTx">
        <pc:chgData name="Mustafa Can Çalışkan" userId="93d707d895a7d3b6" providerId="LiveId" clId="{812645DE-AC7E-40A8-A04A-1256D90DBF59}" dt="2026-03-09T18:57:59.651" v="6"/>
        <pc:sldMkLst>
          <pc:docMk/>
          <pc:sldMk cId="0" sldId="262"/>
        </pc:sldMkLst>
      </pc:sldChg>
      <pc:sldChg chg="modNotesTx">
        <pc:chgData name="Mustafa Can Çalışkan" userId="93d707d895a7d3b6" providerId="LiveId" clId="{812645DE-AC7E-40A8-A04A-1256D90DBF59}" dt="2026-03-09T18:58:08.821" v="7"/>
        <pc:sldMkLst>
          <pc:docMk/>
          <pc:sldMk cId="0" sldId="263"/>
        </pc:sldMkLst>
      </pc:sldChg>
      <pc:sldChg chg="modNotesTx">
        <pc:chgData name="Mustafa Can Çalışkan" userId="93d707d895a7d3b6" providerId="LiveId" clId="{812645DE-AC7E-40A8-A04A-1256D90DBF59}" dt="2026-03-09T18:58:15.907" v="8"/>
        <pc:sldMkLst>
          <pc:docMk/>
          <pc:sldMk cId="0" sldId="264"/>
        </pc:sldMkLst>
      </pc:sldChg>
      <pc:sldChg chg="modNotesTx">
        <pc:chgData name="Mustafa Can Çalışkan" userId="93d707d895a7d3b6" providerId="LiveId" clId="{812645DE-AC7E-40A8-A04A-1256D90DBF59}" dt="2026-03-09T19:00:03.124" v="137" actId="20577"/>
        <pc:sldMkLst>
          <pc:docMk/>
          <pc:sldMk cId="0" sldId="265"/>
        </pc:sldMkLst>
      </pc:sldChg>
      <pc:sldChg chg="modNotesTx">
        <pc:chgData name="Mustafa Can Çalışkan" userId="93d707d895a7d3b6" providerId="LiveId" clId="{812645DE-AC7E-40A8-A04A-1256D90DBF59}" dt="2026-03-09T18:58:33.179" v="10"/>
        <pc:sldMkLst>
          <pc:docMk/>
          <pc:sldMk cId="0" sldId="266"/>
        </pc:sldMkLst>
      </pc:sldChg>
      <pc:sldChg chg="modNotesTx">
        <pc:chgData name="Mustafa Can Çalışkan" userId="93d707d895a7d3b6" providerId="LiveId" clId="{812645DE-AC7E-40A8-A04A-1256D90DBF59}" dt="2026-03-09T18:58:38.866" v="11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e190abb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176" name="Google Shape;176;g3ce190abb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e190abbb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196" name="Google Shape;196;g3ce190abbb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e190abb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endParaRPr dirty="0"/>
          </a:p>
        </p:txBody>
      </p:sp>
      <p:sp>
        <p:nvSpPr>
          <p:cNvPr id="209" name="Google Shape;209;g3ce190abb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e190abbb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16" name="Google Shape;216;g3ce190abbb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ctrTitle"/>
          </p:nvPr>
        </p:nvSpPr>
        <p:spPr>
          <a:xfrm>
            <a:off x="830633" y="868892"/>
            <a:ext cx="10530733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lang="en-US" sz="3900" b="1">
                <a:latin typeface="Play"/>
                <a:ea typeface="Play"/>
                <a:cs typeface="Play"/>
                <a:sym typeface="Play"/>
              </a:rPr>
              <a:t>A Hybrid Rule-Based NLP and Machine Learning Approach for PII Detection and Anonymization in Financial Documents</a:t>
            </a:r>
            <a:endParaRPr sz="47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1"/>
          </p:nvPr>
        </p:nvSpPr>
        <p:spPr>
          <a:xfrm>
            <a:off x="831050" y="4112600"/>
            <a:ext cx="10530900" cy="11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rPr lang="en-US" sz="2300" b="1">
                <a:latin typeface="Play"/>
                <a:ea typeface="Play"/>
                <a:cs typeface="Play"/>
                <a:sym typeface="Play"/>
              </a:rPr>
              <a:t>MUSTAFA CAN ÇALIŞKAN, 504251544</a:t>
            </a:r>
            <a:endParaRPr sz="2300" b="1"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2300" b="1">
                <a:latin typeface="Play"/>
                <a:ea typeface="Play"/>
                <a:cs typeface="Play"/>
                <a:sym typeface="Play"/>
              </a:rPr>
              <a:t>BLG 640E - Security in Financial Information Systems</a:t>
            </a:r>
            <a:endParaRPr sz="23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1"/>
          </p:nvPr>
        </p:nvSpPr>
        <p:spPr>
          <a:xfrm>
            <a:off x="830625" y="6154225"/>
            <a:ext cx="106350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02"/>
              <a:buNone/>
            </a:pPr>
            <a:r>
              <a:rPr lang="en-US" sz="1392">
                <a:latin typeface="Play"/>
                <a:ea typeface="Play"/>
                <a:cs typeface="Play"/>
                <a:sym typeface="Play"/>
              </a:rPr>
              <a:t>K. Mishra, H. Pagare, and K. Sharma, “A hybrid rule-based NLP and machine learning approach for PII detection and anonymization in financial documents,” Scientific Reports, vol. 15, 2025.</a:t>
            </a:r>
            <a:endParaRPr sz="1392"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02"/>
              <a:buNone/>
            </a:pPr>
            <a:endParaRPr sz="1392"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02"/>
              <a:buNone/>
            </a:pPr>
            <a:endParaRPr sz="1392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WHY THIS TOPIC IS IMPORTANT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685800" y="1780125"/>
            <a:ext cx="5613000" cy="4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Financial documents contain sensitive personal information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Examples include names, emails, phone numbers, addresses, SSNs, and credit card numbers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Data leaks can cause financial loss, legal penalties, and loss of trust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Companies must protect customer data and follow privacy regulations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So, automatic PII detection is very important in finance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53" name="Google Shape;153;p20" descr="metin, siyah beyaz, film çekim tahtası içeren bir resim&#10;&#10;Yapay zeka tarafından oluşturulan içerik yanlış olabilir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9275" y="2502950"/>
            <a:ext cx="4809550" cy="2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STATE OF THE ART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5807025" y="2065800"/>
            <a:ext cx="5598600" cy="3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285750" marR="0" lvl="0" indent="-27717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Rule-based and regex methods are simple and fast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7717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But they often fail on complex and unstructured documents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7717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Machine learning methods improve detection, but they may not generalize well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7717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Deep learning models can be accurate, but they need high computation and large labeled datasets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7717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main need is a system that is accurate, scalable, and practical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60" name="Google Shape;160;p21" title="Screenshot from 2026-03-09 16-16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800" y="1980863"/>
            <a:ext cx="3296100" cy="381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MAIN GOAL OF THE PAPER</a:t>
            </a:r>
            <a:endParaRPr sz="32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685800" y="1780125"/>
            <a:ext cx="5111700" cy="3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paper proposes a hybrid system for PII detection and anonymization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combines rule-based NLP and machine learning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uses a custom spaCy NER model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aim is to detect sensitive data and replace it with safe placeholders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system tries to protect privacy without damaging document meaning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5550" y="1461450"/>
            <a:ext cx="3593392" cy="44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METHODOLOGY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685800" y="1698900"/>
            <a:ext cx="10598400" cy="41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Synthetic financial text was created with Faker-based PII generation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PII entities were annotated and used to train a custom spaCy NER model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Raw financial text was preprocessed before detection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Hybrid detection combined regex rules with the trained NER model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Detected PII was anonymized with secure placeholders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METHODOLOGY</a:t>
            </a:r>
            <a:endParaRPr sz="3200" b="1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650" y="1914450"/>
            <a:ext cx="32385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900" y="2619875"/>
            <a:ext cx="54768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CONTRIBUTIONS OF THE PAPER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685800" y="2065800"/>
            <a:ext cx="5102400" cy="3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focuses specifically on financial documents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builds a hybrid NLP and ML pipeline instead of using only one method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preserves semantic meaning during anonymization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uses realistic synthetic financial data for training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also validates the model on real-world financial documents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9225" y="2331700"/>
            <a:ext cx="412432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EXAMPLE OUTPUTS</a:t>
            </a:r>
            <a:endParaRPr sz="32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821974" y="1732825"/>
            <a:ext cx="10707900" cy="3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model replaces sensitive information with clear placeholders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can anonymize audit reports, invoices, and transaction-related text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keeps the document readable and useful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This is important for compliance, auditing, and secure data sharing</a:t>
            </a:r>
            <a:endParaRPr sz="18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EXAMPLE OUTPUTS</a:t>
            </a:r>
            <a:endParaRPr sz="3200" b="1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825" y="2521600"/>
            <a:ext cx="10488348" cy="18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RESULTS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685800" y="2065800"/>
            <a:ext cx="51024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48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Precision: 94.7%, Recall: 89.4%, F1-score: 91.1%, Synthetic-data accuracy: 89.4%, Real-world accuracy: about 93%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These results show that the model detects most PII types effectively and also works well on real financial documents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600" y="2104675"/>
            <a:ext cx="5657224" cy="35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CHALLENGES AND LIMITATIONS</a:t>
            </a:r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6304625" y="1886025"/>
            <a:ext cx="5102400" cy="4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48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URLs were harder to detect than other PII types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Credit card numbers also caused some false negatives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Some names can be confused with common words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Synthetic data is useful, but it cannot cover every real-world case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More real anonymized financial data could improve the model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375" y="2065800"/>
            <a:ext cx="43053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300" cy="14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685800" y="1982700"/>
            <a:ext cx="10248300" cy="3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480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paper presents a practical and scalable solution for PII protection in financial documents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Its main strength is combining privacy protection with document usability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 hybrid approach performs better than many traditional methods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It is also more practical than heavy deep learning solutions in some cases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3448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Font typeface="Play"/>
              <a:buChar char="●"/>
            </a:pPr>
            <a:r>
              <a:rPr lang="en-US" sz="1829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Future work includes more real data and multilingual support</a:t>
            </a:r>
            <a:endParaRPr sz="1829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1030287" y="2700866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 b="1">
                <a:latin typeface="Play"/>
                <a:ea typeface="Play"/>
                <a:cs typeface="Play"/>
                <a:sym typeface="Play"/>
              </a:rPr>
              <a:t>THANKS FOR LISTENING!</a:t>
            </a:r>
            <a:endParaRPr sz="3200" b="1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Microsoft Office PowerPoint</Application>
  <PresentationFormat>Geniş ekran</PresentationFormat>
  <Paragraphs>57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Play</vt:lpstr>
      <vt:lpstr>Arial</vt:lpstr>
      <vt:lpstr>Calibri</vt:lpstr>
      <vt:lpstr>Celestial</vt:lpstr>
      <vt:lpstr>A Hybrid Rule-Based NLP and Machine Learning Approach for PII Detection and Anonymization in Financial Documents</vt:lpstr>
      <vt:lpstr>WHY THIS TOPIC IS IMPORTANT</vt:lpstr>
      <vt:lpstr>STATE OF THE ART</vt:lpstr>
      <vt:lpstr>MAIN GOAL OF THE PAPER</vt:lpstr>
      <vt:lpstr>METHODOLOGY</vt:lpstr>
      <vt:lpstr>METHODOLOGY</vt:lpstr>
      <vt:lpstr>CONTRIBUTIONS OF THE PAPER</vt:lpstr>
      <vt:lpstr>EXAMPLE OUTPUTS</vt:lpstr>
      <vt:lpstr>EXAMPLE OUTPUTS</vt:lpstr>
      <vt:lpstr>RESULTS</vt:lpstr>
      <vt:lpstr>CHALLENGES AND LIMITATIONS</vt:lpstr>
      <vt:lpstr>CONCLUSION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Mustafa Can Çalışkan</cp:lastModifiedBy>
  <cp:revision>13</cp:revision>
  <dcterms:modified xsi:type="dcterms:W3CDTF">2026-04-07T10:32:52Z</dcterms:modified>
</cp:coreProperties>
</file>