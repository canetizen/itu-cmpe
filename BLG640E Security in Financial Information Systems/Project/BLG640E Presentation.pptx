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Play"/>
      <p:regular r:id="rId19"/>
      <p:bold r:id="rId20"/>
    </p:embeddedFont>
    <p:embeddedFont>
      <p:font typeface="Robo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ay-bold.fntdata"/><Relationship Id="rId11" Type="http://schemas.openxmlformats.org/officeDocument/2006/relationships/slide" Target="slides/slide7.xml"/><Relationship Id="rId22" Type="http://schemas.openxmlformats.org/officeDocument/2006/relationships/font" Target="fonts/Roboto-bold.fntdata"/><Relationship Id="rId10" Type="http://schemas.openxmlformats.org/officeDocument/2006/relationships/slide" Target="slides/slide6.xml"/><Relationship Id="rId21" Type="http://schemas.openxmlformats.org/officeDocument/2006/relationships/font" Target="fonts/Roboto-regular.fntdata"/><Relationship Id="rId13" Type="http://schemas.openxmlformats.org/officeDocument/2006/relationships/slide" Target="slides/slide9.xml"/><Relationship Id="rId24" Type="http://schemas.openxmlformats.org/officeDocument/2006/relationships/font" Target="fonts/Roboto-boldItalic.fntdata"/><Relationship Id="rId12" Type="http://schemas.openxmlformats.org/officeDocument/2006/relationships/slide" Target="slides/slide8.xml"/><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lay-regular.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"Hello everyone. Today I will present my work — a small and light payment system for IoT devices. My main goal is to stop double-spending without using a blockchain. Let's start."</a:t>
            </a:r>
            <a:endParaRPr/>
          </a:p>
        </p:txBody>
      </p:sp>
      <p:sp>
        <p:nvSpPr>
          <p:cNvPr id="142" name="Google Shape;14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fae30c513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US"/>
              <a:t>"Imagine an IoT world. Smart sensors, electric car chargers, small APIs. They all need to make many tiny payments — sometimes only one cent each.</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Blockchains like Bitcoin do not fit this case well. They are slow, and the transaction fee can be bigger than the payment itself. So we need something lighter.</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But there is also a security problem. The payer can send the same coin to two different shops at the same time. We call this 'double-spending.' If both shops accept it, the payer wins twice — and the system loses trust.</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So my question is simple: can I prevent double-spending without a full blockchain?"</a:t>
            </a:r>
            <a:endParaRPr/>
          </a:p>
          <a:p>
            <a:pPr indent="0" lvl="0" marL="0" rtl="0" algn="l">
              <a:lnSpc>
                <a:spcPct val="100000"/>
              </a:lnSpc>
              <a:spcBef>
                <a:spcPts val="0"/>
              </a:spcBef>
              <a:spcAft>
                <a:spcPts val="0"/>
              </a:spcAft>
              <a:buSzPts val="1100"/>
              <a:buNone/>
            </a:pPr>
            <a:r>
              <a:t/>
            </a:r>
            <a:endParaRPr/>
          </a:p>
        </p:txBody>
      </p:sp>
      <p:sp>
        <p:nvSpPr>
          <p:cNvPr id="148" name="Google Shape;148;g3dfae30c513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fae30c513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"To make payments cheap, I use a hash chain.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 hash function — like SHA-256 — turns any input into a fixed-size number. It is easy to compute forward, but almost impossible to reverse. We call this 'one-way.'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So I take a random seed and hash it many times. This gives me a chain of tokens. Each one is the hash of the previous.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For each payment, I send one token plus the one before it. The merchant does only one hash to verify: if H of the previous equals this one, the token is valid.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This is very fast and very small — exactly what tiny IoT devices need."</a:t>
            </a:r>
            <a:endParaRPr/>
          </a:p>
          <a:p>
            <a:pPr indent="0" lvl="0" marL="0" rtl="0" algn="l">
              <a:lnSpc>
                <a:spcPct val="100000"/>
              </a:lnSpc>
              <a:spcBef>
                <a:spcPts val="0"/>
              </a:spcBef>
              <a:spcAft>
                <a:spcPts val="0"/>
              </a:spcAft>
              <a:buSzPts val="1100"/>
              <a:buNone/>
            </a:pPr>
            <a:r>
              <a:t/>
            </a:r>
            <a:endParaRPr/>
          </a:p>
        </p:txBody>
      </p:sp>
      <p:sp>
        <p:nvSpPr>
          <p:cNvPr id="156" name="Google Shape;156;g3dfae30c513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dfae30c513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sz="1000">
                <a:solidFill>
                  <a:schemeClr val="dk1"/>
                </a:solidFill>
                <a:latin typeface="Roboto"/>
                <a:ea typeface="Roboto"/>
                <a:cs typeface="Roboto"/>
                <a:sym typeface="Roboto"/>
              </a:rPr>
              <a:t>"This diagram shows my system.</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rPr lang="en-US" sz="1000">
                <a:solidFill>
                  <a:schemeClr val="dk1"/>
                </a:solidFill>
                <a:latin typeface="Roboto"/>
                <a:ea typeface="Roboto"/>
                <a:cs typeface="Roboto"/>
                <a:sym typeface="Roboto"/>
              </a:rPr>
              <a:t>At the top, the payer reveals the same token T to both merchants — this is exactly the double-spend attack I want to stop.</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rPr lang="en-US" sz="1000">
                <a:solidFill>
                  <a:schemeClr val="dk1"/>
                </a:solidFill>
                <a:latin typeface="Roboto"/>
                <a:ea typeface="Roboto"/>
                <a:cs typeface="Roboto"/>
                <a:sym typeface="Roboto"/>
              </a:rPr>
              <a:t>In the middle, two merchants. At the bottom, five validators. The validators are simple servers — not a blockchain. They only remember which tokens are already spent.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rPr lang="en-US" sz="1000">
                <a:solidFill>
                  <a:schemeClr val="dk1"/>
                </a:solidFill>
                <a:latin typeface="Roboto"/>
                <a:ea typeface="Roboto"/>
                <a:cs typeface="Roboto"/>
                <a:sym typeface="Roboto"/>
              </a:rPr>
              <a:t>As the arrows show, each merchant sends a lock request to the validators. But the merchant does not need every validator to say yes. It only needs q out of n approvals — for example, three out of five. We call this number the quorum.</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rPr lang="en-US" sz="1000">
                <a:solidFill>
                  <a:schemeClr val="dk1"/>
                </a:solidFill>
                <a:latin typeface="Roboto"/>
                <a:ea typeface="Roboto"/>
                <a:cs typeface="Roboto"/>
                <a:sym typeface="Roboto"/>
              </a:rPr>
              <a:t>The lock step you see in the diagram is my main contribution. I will explain how it works in the next slide."</a:t>
            </a:r>
            <a:endParaRPr sz="1000">
              <a:solidFill>
                <a:schemeClr val="dk1"/>
              </a:solidFill>
              <a:latin typeface="Roboto"/>
              <a:ea typeface="Roboto"/>
              <a:cs typeface="Roboto"/>
              <a:sym typeface="Roboto"/>
            </a:endParaRPr>
          </a:p>
        </p:txBody>
      </p:sp>
      <p:sp>
        <p:nvSpPr>
          <p:cNvPr id="163" name="Google Shape;163;g3dfae30c513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dfae30c513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"Now let me show how the lock works. There are two phases — you can see them on the right.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In phase one, the merchant asks all validators to lock the token. Each validator checks three things: is the hash valid, is the token not spent, and is it not already locked by another merchant.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If all three pass, the validator returns LOCKED — but only for a short time. This time limit is called the lease. If commit does not arrive in time, the lock expires automatically.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In phase two, when the merchant has at least q locks, it sends a commit message. Each validator then marks the token as permanently spent.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key idea is that a validator can lock a token for only one merchant. First request wins, second is rejected. But what if different validators pick different merchants? The next slide answers exactly that."</a:t>
            </a:r>
            <a:endParaRPr/>
          </a:p>
          <a:p>
            <a:pPr indent="0" lvl="0" marL="0" rtl="0" algn="l">
              <a:lnSpc>
                <a:spcPct val="100000"/>
              </a:lnSpc>
              <a:spcBef>
                <a:spcPts val="0"/>
              </a:spcBef>
              <a:spcAft>
                <a:spcPts val="0"/>
              </a:spcAft>
              <a:buSzPts val="1100"/>
              <a:buNone/>
            </a:pPr>
            <a:r>
              <a:t/>
            </a:r>
            <a:endParaRPr/>
          </a:p>
        </p:txBody>
      </p:sp>
      <p:sp>
        <p:nvSpPr>
          <p:cNvPr id="170" name="Google Shape;170;g3dfae30c513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dfae30c513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US"/>
              <a:t>"So why does the lock actually stop double-spending? The answer is this safety condition.</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In the formula, n is the total number of validators, q is the quorum size, and f-b is the number of malicious validators we tolerate.</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Look at the picture. On the left, Quorum A approves merchant A. On the right, Quorum B approves merchant B. Notice that V3 appears in both groups — it is the same validator, shared by the two quorums. This is the overlap.</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In general, two quorums of size q must share at least 2q minus n validators. For safety, that overlap must contain at least one honest validator. That is exactly what the formula says.</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For example, with five validators and two malicious ones, q must be at least four. Three is not enough."</a:t>
            </a:r>
            <a:endParaRPr/>
          </a:p>
          <a:p>
            <a:pPr indent="0" lvl="0" marL="0" rtl="0" algn="l">
              <a:lnSpc>
                <a:spcPct val="100000"/>
              </a:lnSpc>
              <a:spcBef>
                <a:spcPts val="0"/>
              </a:spcBef>
              <a:spcAft>
                <a:spcPts val="0"/>
              </a:spcAft>
              <a:buSzPts val="1100"/>
              <a:buNone/>
            </a:pPr>
            <a:r>
              <a:t/>
            </a:r>
            <a:endParaRPr/>
          </a:p>
        </p:txBody>
      </p:sp>
      <p:sp>
        <p:nvSpPr>
          <p:cNvPr id="177" name="Google Shape;177;g3dfae30c513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dfae30c513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US"/>
              <a:t>"Now I look at liveness — can the system still work when some validators crash?</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The condition is simple. If at most f-c validators crash, n minus f-c must be at least q. In words, enough validators must stay alive to form a quorum.</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For example, with five validators and q equal to three, the system survives two crashes. If three crash, only two are alive — no quorum, no payments.</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There is a trade-off here. A bigger q gives more safety because the overlap is larger. But it also reduces liveness, because more validators must stay online.</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In the picture, with no faults, the valid range is q from three to five — the green zone. As I add malicious or crashed validators, this zone shrinks. For n equals five, the range can even become empty. That is why I test the two fault types separately in my experiments."</a:t>
            </a:r>
            <a:endParaRPr/>
          </a:p>
          <a:p>
            <a:pPr indent="0" lvl="0" marL="0" rtl="0" algn="l">
              <a:lnSpc>
                <a:spcPct val="100000"/>
              </a:lnSpc>
              <a:spcBef>
                <a:spcPts val="0"/>
              </a:spcBef>
              <a:spcAft>
                <a:spcPts val="0"/>
              </a:spcAft>
              <a:buSzPts val="1100"/>
              <a:buNone/>
            </a:pPr>
            <a:r>
              <a:t/>
            </a:r>
            <a:endParaRPr/>
          </a:p>
        </p:txBody>
      </p:sp>
      <p:sp>
        <p:nvSpPr>
          <p:cNvPr id="184" name="Google Shape;184;g3dfae30c513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dfae30c513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"Now let me describe my setup. I built a real running system, not just a math simulation.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Each component runs in its own Docker container — one payer, two merchants, five validators, an experiment runner, and a reporter. They communicate over HTTP, like real distributed nodes.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 compare two protocol modes — the baseline with only a spent-check, and my lock-lease protocol with the two phases I just showed.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 run fourteen experiment scenarios, each repeated a hundred times, with twenty-token hash chains. I simulate crashes by stopping a container, and byzantine faults by a config flag that makes a validator approve every request."</a:t>
            </a:r>
            <a:endParaRPr/>
          </a:p>
          <a:p>
            <a:pPr indent="0" lvl="0" marL="0" rtl="0" algn="l">
              <a:lnSpc>
                <a:spcPct val="100000"/>
              </a:lnSpc>
              <a:spcBef>
                <a:spcPts val="0"/>
              </a:spcBef>
              <a:spcAft>
                <a:spcPts val="0"/>
              </a:spcAft>
              <a:buSzPts val="1100"/>
              <a:buNone/>
            </a:pPr>
            <a:r>
              <a:t/>
            </a:r>
            <a:endParaRPr/>
          </a:p>
        </p:txBody>
      </p:sp>
      <p:sp>
        <p:nvSpPr>
          <p:cNvPr id="191" name="Google Shape;191;g3dfae30c513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fae30c513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US"/>
              <a:t>"Now the key question — does the lock actually help? I run the double-spend attack one hundred times, with five validators and quorum three.</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As you can see in the figure, the lock-lease bar shows one hundred percent prevention — all hundred attacks blocked.</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The baseline bar shows only thirty-one percent. In the other sixty-nine cases, both merchants accepted the same token, and the double-spend succeeded.</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Why does the baseline fail? The validator first reads the spent set, and then writes to it. Between these two steps, another request can come in. Both merchants see the token as unspent, and both get approval.</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The lock-lease protocol closes this gap. First request wins, second is rejected."</a:t>
            </a:r>
            <a:endParaRPr/>
          </a:p>
          <a:p>
            <a:pPr indent="0" lvl="0" marL="0" rtl="0" algn="l">
              <a:lnSpc>
                <a:spcPct val="100000"/>
              </a:lnSpc>
              <a:spcBef>
                <a:spcPts val="0"/>
              </a:spcBef>
              <a:spcAft>
                <a:spcPts val="0"/>
              </a:spcAft>
              <a:buSzPts val="1100"/>
              <a:buNone/>
            </a:pPr>
            <a:r>
              <a:t/>
            </a:r>
            <a:endParaRPr/>
          </a:p>
        </p:txBody>
      </p:sp>
      <p:sp>
        <p:nvSpPr>
          <p:cNvPr id="198" name="Google Shape;198;g3dfae30c513_0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dfae30c513_0_1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US"/>
              <a:t>"Now I change the quorum size. I keep five validators with no faults, and run a hundred double-spend attempts for each q from two to five.</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As you can see in the figure, with q equals two, prevention drops to eighty-four percent. The reason is simple — two quorums of size two can pick different validators. They do not always share one.</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When q is three or more, prevention reaches one hundred percent. Out of five validators, any two groups of three must share at least one. That one honest validator blocks the second merchant.</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I also measure latency and message count — they barely change. Latency stays around forty-five milliseconds, and the message count stays at fifteen per attempt. So a bigger q gives more safety with almost no extra cost."</a:t>
            </a:r>
            <a:endParaRPr/>
          </a:p>
          <a:p>
            <a:pPr indent="0" lvl="0" marL="0" rtl="0" algn="l">
              <a:lnSpc>
                <a:spcPct val="100000"/>
              </a:lnSpc>
              <a:spcBef>
                <a:spcPts val="0"/>
              </a:spcBef>
              <a:spcAft>
                <a:spcPts val="0"/>
              </a:spcAft>
              <a:buSzPts val="1100"/>
              <a:buNone/>
            </a:pPr>
            <a:r>
              <a:t/>
            </a:r>
            <a:endParaRPr/>
          </a:p>
        </p:txBody>
      </p:sp>
      <p:sp>
        <p:nvSpPr>
          <p:cNvPr id="205" name="Google Shape;205;g3dfae30c513_0_1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fae30c513_0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"Now I test the two fault types — crashes first, then byzantine validators.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In the bottom figure, you can see crash tolerance with quorum three. With two crashed validators, three are alive — just enough for a quorum, and all hundred payments succeed. With three crashed, only two are alive, and success drops to zero.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top figure shows byzantine safety. When the safety condition holds — q equals four — prevention stays one hundred percent, even with two malicious validators.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When the condition is violated — q equals three — prevention drops. Ninety-seven percent with one byzantine validator, and eighty-four percent with two.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numbers match the theory exactly. The two conditions from earlier slides are not just math — they predict real behavior."</a:t>
            </a:r>
            <a:endParaRPr/>
          </a:p>
          <a:p>
            <a:pPr indent="0" lvl="0" marL="0" rtl="0" algn="l">
              <a:lnSpc>
                <a:spcPct val="100000"/>
              </a:lnSpc>
              <a:spcBef>
                <a:spcPts val="0"/>
              </a:spcBef>
              <a:spcAft>
                <a:spcPts val="0"/>
              </a:spcAft>
              <a:buSzPts val="1100"/>
              <a:buNone/>
            </a:pPr>
            <a:r>
              <a:t/>
            </a:r>
            <a:endParaRPr/>
          </a:p>
        </p:txBody>
      </p:sp>
      <p:sp>
        <p:nvSpPr>
          <p:cNvPr id="212" name="Google Shape;212;g3dfae30c513_0_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fae30c513_0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"My last result is throughput. I process a full chain of twenty tokens in sequence, fifty times.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In the figure, the lock-lease protocol handles thirty-eight tokens per second — about twenty-five milliseconds per token. The baseline handles thirty-two.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 want to be honest about this comparison. The baseline has a small built-in delay between read and write — that is the race window I added to model real distributed systems. So the speed difference reflects that delay, not a real advantage of locking.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main benefit of lock-lease is correctness, not speed. But the important number here is twenty-five milliseconds per token. That is fast enough for IoT micropayments — the protocol is practical."</a:t>
            </a:r>
            <a:endParaRPr/>
          </a:p>
          <a:p>
            <a:pPr indent="0" lvl="0" marL="0" rtl="0" algn="l">
              <a:lnSpc>
                <a:spcPct val="100000"/>
              </a:lnSpc>
              <a:spcBef>
                <a:spcPts val="0"/>
              </a:spcBef>
              <a:spcAft>
                <a:spcPts val="0"/>
              </a:spcAft>
              <a:buSzPts val="1100"/>
              <a:buNone/>
            </a:pPr>
            <a:r>
              <a:t/>
            </a:r>
            <a:endParaRPr/>
          </a:p>
        </p:txBody>
      </p:sp>
      <p:sp>
        <p:nvSpPr>
          <p:cNvPr id="220" name="Google Shape;220;g3dfae30c513_0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dfae30c513_0_1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"Let me wrap up.</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 built a lightweight payment system for IoT — a hash chain plus a small validator quorum plus a two-phase lock-lease protocol. No blockchain, no global consensus, just simple servers.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 proved two formal conditions — safety and liveness — and validated both with experiments.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headline result is one hundred percent double-spend prevention under safe configurations, with twenty-five milliseconds per token. Theory and experiments match exactly.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For future work, I plan larger validator sets, wide-area network conditions, and dynamic validator membership where validators can join and leave during operation."</a:t>
            </a:r>
            <a:endParaRPr/>
          </a:p>
          <a:p>
            <a:pPr indent="0" lvl="0" marL="0" rtl="0" algn="l">
              <a:lnSpc>
                <a:spcPct val="100000"/>
              </a:lnSpc>
              <a:spcBef>
                <a:spcPts val="0"/>
              </a:spcBef>
              <a:spcAft>
                <a:spcPts val="0"/>
              </a:spcAft>
              <a:buSzPts val="1100"/>
              <a:buNone/>
            </a:pPr>
            <a:r>
              <a:t/>
            </a:r>
            <a:endParaRPr/>
          </a:p>
        </p:txBody>
      </p:sp>
      <p:sp>
        <p:nvSpPr>
          <p:cNvPr id="227" name="Google Shape;227;g3dfae30c513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1" name="Shape 11"/>
        <p:cNvGrpSpPr/>
        <p:nvPr/>
      </p:nvGrpSpPr>
      <p:grpSpPr>
        <a:xfrm>
          <a:off x="0" y="0"/>
          <a:ext cx="0" cy="0"/>
          <a:chOff x="0" y="0"/>
          <a:chExt cx="0" cy="0"/>
        </a:xfrm>
      </p:grpSpPr>
      <p:pic>
        <p:nvPicPr>
          <p:cNvPr descr="Celestia-R1---OverlayTitleHD.png" id="12" name="Google Shape;12;p2"/>
          <p:cNvPicPr preferRelativeResize="0"/>
          <p:nvPr/>
        </p:nvPicPr>
        <p:blipFill rotWithShape="1">
          <a:blip r:embed="rId3">
            <a:alphaModFix/>
          </a:blip>
          <a:srcRect b="0" l="0" r="0" t="0"/>
          <a:stretch/>
        </p:blipFill>
        <p:spPr>
          <a:xfrm>
            <a:off x="0" y="0"/>
            <a:ext cx="12188825" cy="6856214"/>
          </a:xfrm>
          <a:prstGeom prst="rect">
            <a:avLst/>
          </a:prstGeom>
          <a:noFill/>
          <a:ln>
            <a:noFill/>
          </a:ln>
        </p:spPr>
      </p:pic>
      <p:sp>
        <p:nvSpPr>
          <p:cNvPr id="13" name="Google Shape;13;p2"/>
          <p:cNvSpPr txBox="1"/>
          <p:nvPr>
            <p:ph type="ctrTitle"/>
          </p:nvPr>
        </p:nvSpPr>
        <p:spPr>
          <a:xfrm>
            <a:off x="3962399" y="1964267"/>
            <a:ext cx="7197726" cy="2421464"/>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lt1"/>
              </a:buClr>
              <a:buSzPts val="4800"/>
              <a:buFont typeface="Calibri"/>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 type="subTitle"/>
          </p:nvPr>
        </p:nvSpPr>
        <p:spPr>
          <a:xfrm>
            <a:off x="3962399" y="4385732"/>
            <a:ext cx="7197726" cy="1405467"/>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SzPts val="1800"/>
              <a:buNone/>
              <a:defRPr sz="1800" cap="none">
                <a:solidFill>
                  <a:schemeClr val="lt1"/>
                </a:solidFill>
              </a:defRPr>
            </a:lvl1pPr>
            <a:lvl2pPr lvl="1" algn="ctr">
              <a:lnSpc>
                <a:spcPct val="100000"/>
              </a:lnSpc>
              <a:spcBef>
                <a:spcPts val="1000"/>
              </a:spcBef>
              <a:spcAft>
                <a:spcPts val="0"/>
              </a:spcAft>
              <a:buSzPts val="1600"/>
              <a:buNone/>
              <a:defRPr>
                <a:solidFill>
                  <a:schemeClr val="lt1"/>
                </a:solidFill>
              </a:defRPr>
            </a:lvl2pPr>
            <a:lvl3pPr lvl="2" algn="ctr">
              <a:lnSpc>
                <a:spcPct val="100000"/>
              </a:lnSpc>
              <a:spcBef>
                <a:spcPts val="1000"/>
              </a:spcBef>
              <a:spcAft>
                <a:spcPts val="0"/>
              </a:spcAft>
              <a:buSzPts val="1400"/>
              <a:buNone/>
              <a:defRPr>
                <a:solidFill>
                  <a:schemeClr val="lt1"/>
                </a:solidFill>
              </a:defRPr>
            </a:lvl3pPr>
            <a:lvl4pPr lvl="3" algn="ctr">
              <a:lnSpc>
                <a:spcPct val="100000"/>
              </a:lnSpc>
              <a:spcBef>
                <a:spcPts val="1000"/>
              </a:spcBef>
              <a:spcAft>
                <a:spcPts val="0"/>
              </a:spcAft>
              <a:buSzPts val="1200"/>
              <a:buNone/>
              <a:defRPr>
                <a:solidFill>
                  <a:schemeClr val="lt1"/>
                </a:solidFill>
              </a:defRPr>
            </a:lvl4pPr>
            <a:lvl5pPr lvl="4" algn="ctr">
              <a:lnSpc>
                <a:spcPct val="100000"/>
              </a:lnSpc>
              <a:spcBef>
                <a:spcPts val="1000"/>
              </a:spcBef>
              <a:spcAft>
                <a:spcPts val="0"/>
              </a:spcAft>
              <a:buSzPts val="1200"/>
              <a:buNone/>
              <a:defRPr>
                <a:solidFill>
                  <a:schemeClr val="lt1"/>
                </a:solidFill>
              </a:defRPr>
            </a:lvl5pPr>
            <a:lvl6pPr lvl="5" algn="ctr">
              <a:lnSpc>
                <a:spcPct val="100000"/>
              </a:lnSpc>
              <a:spcBef>
                <a:spcPts val="1000"/>
              </a:spcBef>
              <a:spcAft>
                <a:spcPts val="0"/>
              </a:spcAft>
              <a:buSzPts val="1200"/>
              <a:buNone/>
              <a:defRPr>
                <a:solidFill>
                  <a:schemeClr val="lt1"/>
                </a:solidFill>
              </a:defRPr>
            </a:lvl6pPr>
            <a:lvl7pPr lvl="6" algn="ctr">
              <a:lnSpc>
                <a:spcPct val="100000"/>
              </a:lnSpc>
              <a:spcBef>
                <a:spcPts val="1000"/>
              </a:spcBef>
              <a:spcAft>
                <a:spcPts val="0"/>
              </a:spcAft>
              <a:buSzPts val="1200"/>
              <a:buNone/>
              <a:defRPr>
                <a:solidFill>
                  <a:schemeClr val="lt1"/>
                </a:solidFill>
              </a:defRPr>
            </a:lvl7pPr>
            <a:lvl8pPr lvl="7" algn="ctr">
              <a:lnSpc>
                <a:spcPct val="100000"/>
              </a:lnSpc>
              <a:spcBef>
                <a:spcPts val="1000"/>
              </a:spcBef>
              <a:spcAft>
                <a:spcPts val="0"/>
              </a:spcAft>
              <a:buSzPts val="1200"/>
              <a:buNone/>
              <a:defRPr>
                <a:solidFill>
                  <a:schemeClr val="lt1"/>
                </a:solidFill>
              </a:defRPr>
            </a:lvl8pPr>
            <a:lvl9pPr lvl="8" algn="ctr">
              <a:lnSpc>
                <a:spcPct val="100000"/>
              </a:lnSpc>
              <a:spcBef>
                <a:spcPts val="1000"/>
              </a:spcBef>
              <a:spcAft>
                <a:spcPts val="1000"/>
              </a:spcAft>
              <a:buSzPts val="1200"/>
              <a:buNone/>
              <a:defRPr>
                <a:solidFill>
                  <a:schemeClr val="lt1"/>
                </a:solidFill>
              </a:defRPr>
            </a:lvl9pPr>
          </a:lstStyle>
          <a:p/>
        </p:txBody>
      </p:sp>
      <p:sp>
        <p:nvSpPr>
          <p:cNvPr id="15" name="Google Shape;15;p2"/>
          <p:cNvSpPr txBox="1"/>
          <p:nvPr>
            <p:ph idx="10" type="dt"/>
          </p:nvPr>
        </p:nvSpPr>
        <p:spPr>
          <a:xfrm>
            <a:off x="8932558"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1" type="ftr"/>
          </p:nvPr>
        </p:nvSpPr>
        <p:spPr>
          <a:xfrm>
            <a:off x="3962399" y="5870575"/>
            <a:ext cx="4893958"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2" type="sldNum"/>
          </p:nvPr>
        </p:nvSpPr>
        <p:spPr>
          <a:xfrm>
            <a:off x="10608958"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pic>
        <p:nvPicPr>
          <p:cNvPr descr="Celestia-R1---OverlayContentHD.png" id="19" name="Google Shape;19;p3"/>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20" name="Google Shape;20;p3"/>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22" name="Google Shape;22;p3"/>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pic>
        <p:nvPicPr>
          <p:cNvPr descr="Celestia-R1---OverlayContentHD.png" id="26" name="Google Shape;26;p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27" name="Google Shape;27;p4"/>
          <p:cNvSpPr txBox="1"/>
          <p:nvPr>
            <p:ph type="title"/>
          </p:nvPr>
        </p:nvSpPr>
        <p:spPr>
          <a:xfrm>
            <a:off x="685800" y="3308581"/>
            <a:ext cx="10131427" cy="1468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4000"/>
              <a:buFont typeface="Calibri"/>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 type="body"/>
          </p:nvPr>
        </p:nvSpPr>
        <p:spPr>
          <a:xfrm>
            <a:off x="685799" y="4777381"/>
            <a:ext cx="10131428"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000"/>
              <a:buNone/>
              <a:defRPr sz="2000" cap="none">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29" name="Google Shape;29;p4"/>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2" name="Shape 32"/>
        <p:cNvGrpSpPr/>
        <p:nvPr/>
      </p:nvGrpSpPr>
      <p:grpSpPr>
        <a:xfrm>
          <a:off x="0" y="0"/>
          <a:ext cx="0" cy="0"/>
          <a:chOff x="0" y="0"/>
          <a:chExt cx="0" cy="0"/>
        </a:xfrm>
      </p:grpSpPr>
      <p:pic>
        <p:nvPicPr>
          <p:cNvPr descr="Celestia-R1---OverlayContentHD.png" id="33" name="Google Shape;33;p5"/>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34" name="Google Shape;34;p5"/>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 type="body"/>
          </p:nvPr>
        </p:nvSpPr>
        <p:spPr>
          <a:xfrm>
            <a:off x="685802" y="2142067"/>
            <a:ext cx="4995334" cy="3649134"/>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36" name="Google Shape;36;p5"/>
          <p:cNvSpPr txBox="1"/>
          <p:nvPr>
            <p:ph idx="2" type="body"/>
          </p:nvPr>
        </p:nvSpPr>
        <p:spPr>
          <a:xfrm>
            <a:off x="5821895" y="2142067"/>
            <a:ext cx="4995332" cy="3649133"/>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37" name="Google Shape;37;p5"/>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 type="body"/>
          </p:nvPr>
        </p:nvSpPr>
        <p:spPr>
          <a:xfrm>
            <a:off x="973670" y="2218267"/>
            <a:ext cx="4709054"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SzPts val="2800"/>
              <a:buNone/>
              <a:defRPr b="0" sz="28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1000"/>
              </a:spcAft>
              <a:buSzPts val="1600"/>
              <a:buNone/>
              <a:defRPr b="1" sz="1600"/>
            </a:lvl9pPr>
          </a:lstStyle>
          <a:p/>
        </p:txBody>
      </p:sp>
      <p:sp>
        <p:nvSpPr>
          <p:cNvPr id="43" name="Google Shape;43;p6"/>
          <p:cNvSpPr txBox="1"/>
          <p:nvPr>
            <p:ph idx="2" type="body"/>
          </p:nvPr>
        </p:nvSpPr>
        <p:spPr>
          <a:xfrm>
            <a:off x="685801" y="2870201"/>
            <a:ext cx="4996923" cy="292099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4" name="Google Shape;44;p6"/>
          <p:cNvSpPr txBox="1"/>
          <p:nvPr>
            <p:ph idx="3" type="body"/>
          </p:nvPr>
        </p:nvSpPr>
        <p:spPr>
          <a:xfrm>
            <a:off x="6096003" y="2226734"/>
            <a:ext cx="4722813"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0"/>
              </a:spcBef>
              <a:spcAft>
                <a:spcPts val="0"/>
              </a:spcAft>
              <a:buSzPts val="2800"/>
              <a:buNone/>
              <a:defRPr b="0" sz="28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1000"/>
              </a:spcAft>
              <a:buSzPts val="1600"/>
              <a:buNone/>
              <a:defRPr b="1" sz="1600"/>
            </a:lvl9pPr>
          </a:lstStyle>
          <a:p/>
        </p:txBody>
      </p:sp>
      <p:sp>
        <p:nvSpPr>
          <p:cNvPr id="45" name="Google Shape;45;p6"/>
          <p:cNvSpPr txBox="1"/>
          <p:nvPr>
            <p:ph idx="4" type="body"/>
          </p:nvPr>
        </p:nvSpPr>
        <p:spPr>
          <a:xfrm>
            <a:off x="5823483" y="2870201"/>
            <a:ext cx="4995334" cy="292099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46" name="Google Shape;46;p6"/>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pic>
        <p:nvPicPr>
          <p:cNvPr descr="Celestia-R1---OverlayContentHD.png" id="50" name="Google Shape;50;p7"/>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51" name="Google Shape;51;p7"/>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7"/>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pic>
        <p:nvPicPr>
          <p:cNvPr descr="Celestia-R1---OverlayContentHD.png" id="56" name="Google Shape;56;p8"/>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57" name="Google Shape;57;p8"/>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8"/>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pic>
        <p:nvPicPr>
          <p:cNvPr descr="Celestia-R1---OverlayContentHD.png" id="61" name="Google Shape;61;p9"/>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62" name="Google Shape;62;p9"/>
          <p:cNvSpPr txBox="1"/>
          <p:nvPr>
            <p:ph type="title"/>
          </p:nvPr>
        </p:nvSpPr>
        <p:spPr>
          <a:xfrm>
            <a:off x="685800" y="2074333"/>
            <a:ext cx="3680885" cy="137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400"/>
              <a:buFont typeface="Calibri"/>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 type="body"/>
          </p:nvPr>
        </p:nvSpPr>
        <p:spPr>
          <a:xfrm>
            <a:off x="4648201" y="609601"/>
            <a:ext cx="6169026" cy="5181600"/>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64" name="Google Shape;64;p9"/>
          <p:cNvSpPr txBox="1"/>
          <p:nvPr>
            <p:ph idx="2" type="body"/>
          </p:nvPr>
        </p:nvSpPr>
        <p:spPr>
          <a:xfrm>
            <a:off x="685800" y="3445933"/>
            <a:ext cx="3680885" cy="1828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600"/>
              <a:buNone/>
              <a:defRPr sz="16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65" name="Google Shape;65;p9"/>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pic>
        <p:nvPicPr>
          <p:cNvPr descr="Celestia-R1---OverlayContentHD.png" id="69" name="Google Shape;69;p10"/>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70" name="Google Shape;70;p10"/>
          <p:cNvSpPr txBox="1"/>
          <p:nvPr>
            <p:ph type="title"/>
          </p:nvPr>
        </p:nvSpPr>
        <p:spPr>
          <a:xfrm>
            <a:off x="685800" y="1600200"/>
            <a:ext cx="6164653" cy="137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800"/>
              <a:buFont typeface="Calibri"/>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p:nvPr>
            <p:ph idx="2" type="pic"/>
          </p:nvPr>
        </p:nvSpPr>
        <p:spPr>
          <a:xfrm>
            <a:off x="7536253" y="914400"/>
            <a:ext cx="3280974" cy="4572000"/>
          </a:xfrm>
          <a:prstGeom prst="roundRect">
            <a:avLst>
              <a:gd fmla="val 4280" name="adj"/>
            </a:avLst>
          </a:prstGeom>
          <a:noFill/>
          <a:ln cap="sq" cmpd="dbl" w="50800">
            <a:solidFill>
              <a:srgbClr val="FFFFFF"/>
            </a:solidFill>
            <a:prstDash val="solid"/>
            <a:miter lim="800000"/>
            <a:headEnd len="sm" w="sm" type="none"/>
            <a:tailEnd len="sm" w="sm" type="none"/>
          </a:ln>
          <a:effectLst>
            <a:outerShdw blurRad="254000" rotWithShape="0" algn="tl">
              <a:srgbClr val="000000">
                <a:alpha val="42745"/>
              </a:srgbClr>
            </a:outerShdw>
          </a:effectLst>
        </p:spPr>
      </p:sp>
      <p:sp>
        <p:nvSpPr>
          <p:cNvPr id="72" name="Google Shape;72;p10"/>
          <p:cNvSpPr txBox="1"/>
          <p:nvPr>
            <p:ph idx="1" type="body"/>
          </p:nvPr>
        </p:nvSpPr>
        <p:spPr>
          <a:xfrm>
            <a:off x="685800" y="2971800"/>
            <a:ext cx="6164653" cy="1828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73" name="Google Shape;73;p10"/>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0"/>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0"/>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6" name="Shape 76"/>
        <p:cNvGrpSpPr/>
        <p:nvPr/>
      </p:nvGrpSpPr>
      <p:grpSpPr>
        <a:xfrm>
          <a:off x="0" y="0"/>
          <a:ext cx="0" cy="0"/>
          <a:chOff x="0" y="0"/>
          <a:chExt cx="0" cy="0"/>
        </a:xfrm>
      </p:grpSpPr>
      <p:pic>
        <p:nvPicPr>
          <p:cNvPr descr="Celestia-R1---OverlayContentHD.png" id="77" name="Google Shape;77;p11"/>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78" name="Google Shape;78;p11"/>
          <p:cNvSpPr txBox="1"/>
          <p:nvPr>
            <p:ph type="title"/>
          </p:nvPr>
        </p:nvSpPr>
        <p:spPr>
          <a:xfrm>
            <a:off x="685800" y="4732865"/>
            <a:ext cx="10131427"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400"/>
              <a:buFont typeface="Calibri"/>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1"/>
          <p:cNvSpPr/>
          <p:nvPr>
            <p:ph idx="2" type="pic"/>
          </p:nvPr>
        </p:nvSpPr>
        <p:spPr>
          <a:xfrm>
            <a:off x="1371600" y="932112"/>
            <a:ext cx="8759827" cy="3164976"/>
          </a:xfrm>
          <a:prstGeom prst="roundRect">
            <a:avLst>
              <a:gd fmla="val 4380" name="adj"/>
            </a:avLst>
          </a:prstGeom>
          <a:noFill/>
          <a:ln cap="sq" cmpd="dbl" w="50800">
            <a:solidFill>
              <a:srgbClr val="FFFFFF"/>
            </a:solidFill>
            <a:prstDash val="solid"/>
            <a:miter lim="800000"/>
            <a:headEnd len="sm" w="sm" type="none"/>
            <a:tailEnd len="sm" w="sm" type="none"/>
          </a:ln>
          <a:effectLst>
            <a:outerShdw blurRad="254000" rotWithShape="0" algn="tl">
              <a:srgbClr val="000000">
                <a:alpha val="42745"/>
              </a:srgbClr>
            </a:outerShdw>
          </a:effectLst>
        </p:spPr>
      </p:sp>
      <p:sp>
        <p:nvSpPr>
          <p:cNvPr id="80" name="Google Shape;80;p11"/>
          <p:cNvSpPr txBox="1"/>
          <p:nvPr>
            <p:ph idx="1" type="body"/>
          </p:nvPr>
        </p:nvSpPr>
        <p:spPr>
          <a:xfrm>
            <a:off x="685800" y="5299603"/>
            <a:ext cx="10131427"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1000"/>
              </a:spcAft>
              <a:buSzPts val="900"/>
              <a:buNone/>
              <a:defRPr sz="900"/>
            </a:lvl9pPr>
          </a:lstStyle>
          <a:p/>
        </p:txBody>
      </p:sp>
      <p:sp>
        <p:nvSpPr>
          <p:cNvPr id="81" name="Google Shape;81;p11"/>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1"/>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1"/>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4" name="Shape 84"/>
        <p:cNvGrpSpPr/>
        <p:nvPr/>
      </p:nvGrpSpPr>
      <p:grpSpPr>
        <a:xfrm>
          <a:off x="0" y="0"/>
          <a:ext cx="0" cy="0"/>
          <a:chOff x="0" y="0"/>
          <a:chExt cx="0" cy="0"/>
        </a:xfrm>
      </p:grpSpPr>
      <p:pic>
        <p:nvPicPr>
          <p:cNvPr descr="Celestia-R1---OverlayContentHD.png" id="85" name="Google Shape;85;p12"/>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86" name="Google Shape;86;p12"/>
          <p:cNvSpPr txBox="1"/>
          <p:nvPr>
            <p:ph type="title"/>
          </p:nvPr>
        </p:nvSpPr>
        <p:spPr>
          <a:xfrm>
            <a:off x="685801" y="609601"/>
            <a:ext cx="10131427" cy="3124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2"/>
          <p:cNvSpPr txBox="1"/>
          <p:nvPr>
            <p:ph idx="1" type="body"/>
          </p:nvPr>
        </p:nvSpPr>
        <p:spPr>
          <a:xfrm>
            <a:off x="685800" y="4343400"/>
            <a:ext cx="10131428" cy="14478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88" name="Google Shape;88;p12"/>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2"/>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2"/>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1" name="Shape 91"/>
        <p:cNvGrpSpPr/>
        <p:nvPr/>
      </p:nvGrpSpPr>
      <p:grpSpPr>
        <a:xfrm>
          <a:off x="0" y="0"/>
          <a:ext cx="0" cy="0"/>
          <a:chOff x="0" y="0"/>
          <a:chExt cx="0" cy="0"/>
        </a:xfrm>
      </p:grpSpPr>
      <p:pic>
        <p:nvPicPr>
          <p:cNvPr descr="Celestia-R1---OverlayContentHD.png" id="92" name="Google Shape;92;p13"/>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93" name="Google Shape;93;p13"/>
          <p:cNvSpPr txBox="1"/>
          <p:nvPr/>
        </p:nvSpPr>
        <p:spPr>
          <a:xfrm>
            <a:off x="10237867" y="274320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4" name="Google Shape;94;p13"/>
          <p:cNvSpPr txBox="1"/>
          <p:nvPr/>
        </p:nvSpPr>
        <p:spPr>
          <a:xfrm>
            <a:off x="488275" y="823337"/>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5" name="Google Shape;95;p13"/>
          <p:cNvSpPr txBox="1"/>
          <p:nvPr>
            <p:ph type="title"/>
          </p:nvPr>
        </p:nvSpPr>
        <p:spPr>
          <a:xfrm>
            <a:off x="992267" y="609601"/>
            <a:ext cx="9550399"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3"/>
          <p:cNvSpPr txBox="1"/>
          <p:nvPr>
            <p:ph idx="1" type="body"/>
          </p:nvPr>
        </p:nvSpPr>
        <p:spPr>
          <a:xfrm>
            <a:off x="1097875" y="3352800"/>
            <a:ext cx="9339184"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1800"/>
              <a:buFont typeface="Calibri"/>
              <a:buNone/>
              <a:defRPr/>
            </a:lvl1pPr>
            <a:lvl2pPr indent="-228600" lvl="1" marL="914400" algn="l">
              <a:lnSpc>
                <a:spcPct val="100000"/>
              </a:lnSpc>
              <a:spcBef>
                <a:spcPts val="1000"/>
              </a:spcBef>
              <a:spcAft>
                <a:spcPts val="0"/>
              </a:spcAft>
              <a:buSzPts val="1600"/>
              <a:buFont typeface="Calibri"/>
              <a:buNone/>
              <a:defRPr/>
            </a:lvl2pPr>
            <a:lvl3pPr indent="-228600" lvl="2" marL="1371600" algn="l">
              <a:lnSpc>
                <a:spcPct val="100000"/>
              </a:lnSpc>
              <a:spcBef>
                <a:spcPts val="1000"/>
              </a:spcBef>
              <a:spcAft>
                <a:spcPts val="0"/>
              </a:spcAft>
              <a:buSzPts val="1400"/>
              <a:buFont typeface="Calibri"/>
              <a:buNone/>
              <a:defRPr/>
            </a:lvl3pPr>
            <a:lvl4pPr indent="-228600" lvl="3" marL="1828800" algn="l">
              <a:lnSpc>
                <a:spcPct val="100000"/>
              </a:lnSpc>
              <a:spcBef>
                <a:spcPts val="1000"/>
              </a:spcBef>
              <a:spcAft>
                <a:spcPts val="0"/>
              </a:spcAft>
              <a:buSzPts val="1200"/>
              <a:buFont typeface="Calibri"/>
              <a:buNone/>
              <a:defRPr/>
            </a:lvl4pPr>
            <a:lvl5pPr indent="-228600" lvl="4" marL="2286000" algn="l">
              <a:lnSpc>
                <a:spcPct val="100000"/>
              </a:lnSpc>
              <a:spcBef>
                <a:spcPts val="1000"/>
              </a:spcBef>
              <a:spcAft>
                <a:spcPts val="0"/>
              </a:spcAft>
              <a:buSzPts val="1200"/>
              <a:buFont typeface="Calibri"/>
              <a:buNone/>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97" name="Google Shape;97;p13"/>
          <p:cNvSpPr txBox="1"/>
          <p:nvPr>
            <p:ph idx="2" type="body"/>
          </p:nvPr>
        </p:nvSpPr>
        <p:spPr>
          <a:xfrm>
            <a:off x="687465" y="4343400"/>
            <a:ext cx="10152367" cy="14478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98" name="Google Shape;98;p13"/>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3"/>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3"/>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1" name="Shape 101"/>
        <p:cNvGrpSpPr/>
        <p:nvPr/>
      </p:nvGrpSpPr>
      <p:grpSpPr>
        <a:xfrm>
          <a:off x="0" y="0"/>
          <a:ext cx="0" cy="0"/>
          <a:chOff x="0" y="0"/>
          <a:chExt cx="0" cy="0"/>
        </a:xfrm>
      </p:grpSpPr>
      <p:pic>
        <p:nvPicPr>
          <p:cNvPr descr="Celestia-R1---OverlayContentHD.png" id="102" name="Google Shape;102;p1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03" name="Google Shape;103;p14"/>
          <p:cNvSpPr txBox="1"/>
          <p:nvPr>
            <p:ph type="title"/>
          </p:nvPr>
        </p:nvSpPr>
        <p:spPr>
          <a:xfrm>
            <a:off x="685802" y="3308581"/>
            <a:ext cx="10131425" cy="1468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4"/>
          <p:cNvSpPr txBox="1"/>
          <p:nvPr>
            <p:ph idx="1" type="body"/>
          </p:nvPr>
        </p:nvSpPr>
        <p:spPr>
          <a:xfrm>
            <a:off x="685801" y="4777381"/>
            <a:ext cx="10131426"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05" name="Google Shape;105;p14"/>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4"/>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4"/>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08" name="Shape 108"/>
        <p:cNvGrpSpPr/>
        <p:nvPr/>
      </p:nvGrpSpPr>
      <p:grpSpPr>
        <a:xfrm>
          <a:off x="0" y="0"/>
          <a:ext cx="0" cy="0"/>
          <a:chOff x="0" y="0"/>
          <a:chExt cx="0" cy="0"/>
        </a:xfrm>
      </p:grpSpPr>
      <p:pic>
        <p:nvPicPr>
          <p:cNvPr descr="Celestia-R1---OverlayContentHD.png" id="109" name="Google Shape;109;p15"/>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10" name="Google Shape;110;p15"/>
          <p:cNvSpPr txBox="1"/>
          <p:nvPr/>
        </p:nvSpPr>
        <p:spPr>
          <a:xfrm>
            <a:off x="10237867" y="2743200"/>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1" name="Google Shape;111;p15"/>
          <p:cNvSpPr txBox="1"/>
          <p:nvPr/>
        </p:nvSpPr>
        <p:spPr>
          <a:xfrm>
            <a:off x="488275" y="823337"/>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lt1"/>
              </a:buClr>
              <a:buSzPts val="8000"/>
              <a:buFont typeface="Calibri"/>
              <a:buNone/>
            </a:pPr>
            <a:r>
              <a:rPr b="0" i="0" lang="en-US" sz="8000" u="none" cap="none" strike="noStrike">
                <a:solidFill>
                  <a:schemeClr val="lt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12" name="Google Shape;112;p15"/>
          <p:cNvSpPr txBox="1"/>
          <p:nvPr>
            <p:ph type="title"/>
          </p:nvPr>
        </p:nvSpPr>
        <p:spPr>
          <a:xfrm>
            <a:off x="992267" y="609601"/>
            <a:ext cx="9550399"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alibri"/>
              <a:buNone/>
              <a:defRPr b="0"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5"/>
          <p:cNvSpPr txBox="1"/>
          <p:nvPr>
            <p:ph idx="1" type="body"/>
          </p:nvPr>
        </p:nvSpPr>
        <p:spPr>
          <a:xfrm>
            <a:off x="685800" y="3886200"/>
            <a:ext cx="10135436" cy="8890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0"/>
              </a:spcBef>
              <a:spcAft>
                <a:spcPts val="0"/>
              </a:spcAft>
              <a:buSzPts val="2400"/>
              <a:buNone/>
              <a:defRPr b="0" sz="2400" cap="none">
                <a:solidFill>
                  <a:schemeClr val="lt1"/>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14" name="Google Shape;114;p15"/>
          <p:cNvSpPr txBox="1"/>
          <p:nvPr>
            <p:ph idx="2" type="body"/>
          </p:nvPr>
        </p:nvSpPr>
        <p:spPr>
          <a:xfrm>
            <a:off x="685799" y="4775200"/>
            <a:ext cx="10135436" cy="1016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15" name="Google Shape;115;p15"/>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15"/>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5"/>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18" name="Shape 118"/>
        <p:cNvGrpSpPr/>
        <p:nvPr/>
      </p:nvGrpSpPr>
      <p:grpSpPr>
        <a:xfrm>
          <a:off x="0" y="0"/>
          <a:ext cx="0" cy="0"/>
          <a:chOff x="0" y="0"/>
          <a:chExt cx="0" cy="0"/>
        </a:xfrm>
      </p:grpSpPr>
      <p:pic>
        <p:nvPicPr>
          <p:cNvPr descr="Celestia-R1---OverlayContentHD.png" id="119" name="Google Shape;119;p16"/>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20" name="Google Shape;120;p16"/>
          <p:cNvSpPr txBox="1"/>
          <p:nvPr>
            <p:ph type="title"/>
          </p:nvPr>
        </p:nvSpPr>
        <p:spPr>
          <a:xfrm>
            <a:off x="685801" y="609601"/>
            <a:ext cx="10131427" cy="274319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alibri"/>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6"/>
          <p:cNvSpPr txBox="1"/>
          <p:nvPr>
            <p:ph idx="1" type="body"/>
          </p:nvPr>
        </p:nvSpPr>
        <p:spPr>
          <a:xfrm>
            <a:off x="685801" y="3505200"/>
            <a:ext cx="10131428"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0"/>
              </a:spcBef>
              <a:spcAft>
                <a:spcPts val="0"/>
              </a:spcAft>
              <a:buSzPts val="2800"/>
              <a:buNone/>
              <a:defRPr b="0" sz="2800" cap="none">
                <a:solidFill>
                  <a:schemeClr val="lt1"/>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22" name="Google Shape;122;p16"/>
          <p:cNvSpPr txBox="1"/>
          <p:nvPr>
            <p:ph idx="2" type="body"/>
          </p:nvPr>
        </p:nvSpPr>
        <p:spPr>
          <a:xfrm>
            <a:off x="685800" y="4343400"/>
            <a:ext cx="10131428"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SzPts val="1800"/>
              <a:buNone/>
              <a:defRPr sz="1800">
                <a:solidFill>
                  <a:schemeClr val="lt1"/>
                </a:solidFill>
              </a:defRPr>
            </a:lvl1pPr>
            <a:lvl2pPr indent="-228600" lvl="1" marL="914400" algn="l">
              <a:lnSpc>
                <a:spcPct val="100000"/>
              </a:lnSpc>
              <a:spcBef>
                <a:spcPts val="1000"/>
              </a:spcBef>
              <a:spcAft>
                <a:spcPts val="0"/>
              </a:spcAft>
              <a:buSzPts val="1800"/>
              <a:buNone/>
              <a:defRPr sz="1800">
                <a:solidFill>
                  <a:schemeClr val="lt1"/>
                </a:solidFill>
              </a:defRPr>
            </a:lvl2pPr>
            <a:lvl3pPr indent="-228600" lvl="2" marL="1371600" algn="l">
              <a:lnSpc>
                <a:spcPct val="100000"/>
              </a:lnSpc>
              <a:spcBef>
                <a:spcPts val="1000"/>
              </a:spcBef>
              <a:spcAft>
                <a:spcPts val="0"/>
              </a:spcAft>
              <a:buSzPts val="1600"/>
              <a:buNone/>
              <a:defRPr sz="1600">
                <a:solidFill>
                  <a:schemeClr val="lt1"/>
                </a:solidFill>
              </a:defRPr>
            </a:lvl3pPr>
            <a:lvl4pPr indent="-228600" lvl="3" marL="1828800" algn="l">
              <a:lnSpc>
                <a:spcPct val="100000"/>
              </a:lnSpc>
              <a:spcBef>
                <a:spcPts val="1000"/>
              </a:spcBef>
              <a:spcAft>
                <a:spcPts val="0"/>
              </a:spcAft>
              <a:buSzPts val="1400"/>
              <a:buNone/>
              <a:defRPr sz="1400">
                <a:solidFill>
                  <a:schemeClr val="lt1"/>
                </a:solidFill>
              </a:defRPr>
            </a:lvl4pPr>
            <a:lvl5pPr indent="-228600" lvl="4" marL="2286000" algn="l">
              <a:lnSpc>
                <a:spcPct val="100000"/>
              </a:lnSpc>
              <a:spcBef>
                <a:spcPts val="1000"/>
              </a:spcBef>
              <a:spcAft>
                <a:spcPts val="0"/>
              </a:spcAft>
              <a:buSzPts val="1400"/>
              <a:buNone/>
              <a:defRPr sz="1400">
                <a:solidFill>
                  <a:schemeClr val="lt1"/>
                </a:solidFill>
              </a:defRPr>
            </a:lvl5pPr>
            <a:lvl6pPr indent="-228600" lvl="5" marL="2743200" algn="l">
              <a:lnSpc>
                <a:spcPct val="100000"/>
              </a:lnSpc>
              <a:spcBef>
                <a:spcPts val="1000"/>
              </a:spcBef>
              <a:spcAft>
                <a:spcPts val="0"/>
              </a:spcAft>
              <a:buSzPts val="1400"/>
              <a:buNone/>
              <a:defRPr sz="1400">
                <a:solidFill>
                  <a:schemeClr val="lt1"/>
                </a:solidFill>
              </a:defRPr>
            </a:lvl6pPr>
            <a:lvl7pPr indent="-228600" lvl="6" marL="3200400" algn="l">
              <a:lnSpc>
                <a:spcPct val="100000"/>
              </a:lnSpc>
              <a:spcBef>
                <a:spcPts val="1000"/>
              </a:spcBef>
              <a:spcAft>
                <a:spcPts val="0"/>
              </a:spcAft>
              <a:buSzPts val="1400"/>
              <a:buNone/>
              <a:defRPr sz="1400">
                <a:solidFill>
                  <a:schemeClr val="lt1"/>
                </a:solidFill>
              </a:defRPr>
            </a:lvl7pPr>
            <a:lvl8pPr indent="-228600" lvl="7" marL="3657600" algn="l">
              <a:lnSpc>
                <a:spcPct val="100000"/>
              </a:lnSpc>
              <a:spcBef>
                <a:spcPts val="1000"/>
              </a:spcBef>
              <a:spcAft>
                <a:spcPts val="0"/>
              </a:spcAft>
              <a:buSzPts val="1400"/>
              <a:buNone/>
              <a:defRPr sz="1400">
                <a:solidFill>
                  <a:schemeClr val="lt1"/>
                </a:solidFill>
              </a:defRPr>
            </a:lvl8pPr>
            <a:lvl9pPr indent="-228600" lvl="8" marL="4114800" algn="l">
              <a:lnSpc>
                <a:spcPct val="100000"/>
              </a:lnSpc>
              <a:spcBef>
                <a:spcPts val="1000"/>
              </a:spcBef>
              <a:spcAft>
                <a:spcPts val="1000"/>
              </a:spcAft>
              <a:buSzPts val="1400"/>
              <a:buNone/>
              <a:defRPr sz="1400">
                <a:solidFill>
                  <a:schemeClr val="lt1"/>
                </a:solidFill>
              </a:defRPr>
            </a:lvl9pPr>
          </a:lstStyle>
          <a:p/>
        </p:txBody>
      </p:sp>
      <p:sp>
        <p:nvSpPr>
          <p:cNvPr id="123" name="Google Shape;123;p16"/>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6"/>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6"/>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6" name="Shape 126"/>
        <p:cNvGrpSpPr/>
        <p:nvPr/>
      </p:nvGrpSpPr>
      <p:grpSpPr>
        <a:xfrm>
          <a:off x="0" y="0"/>
          <a:ext cx="0" cy="0"/>
          <a:chOff x="0" y="0"/>
          <a:chExt cx="0" cy="0"/>
        </a:xfrm>
      </p:grpSpPr>
      <p:pic>
        <p:nvPicPr>
          <p:cNvPr descr="Celestia-R1---OverlayContentHD.png" id="127" name="Google Shape;127;p17"/>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28" name="Google Shape;128;p17"/>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7"/>
          <p:cNvSpPr txBox="1"/>
          <p:nvPr>
            <p:ph idx="1" type="body"/>
          </p:nvPr>
        </p:nvSpPr>
        <p:spPr>
          <a:xfrm rot="5400000">
            <a:off x="3926947" y="-1099079"/>
            <a:ext cx="3649133" cy="10131425"/>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30" name="Google Shape;130;p17"/>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7"/>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17"/>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3" name="Shape 133"/>
        <p:cNvGrpSpPr/>
        <p:nvPr/>
      </p:nvGrpSpPr>
      <p:grpSpPr>
        <a:xfrm>
          <a:off x="0" y="0"/>
          <a:ext cx="0" cy="0"/>
          <a:chOff x="0" y="0"/>
          <a:chExt cx="0" cy="0"/>
        </a:xfrm>
      </p:grpSpPr>
      <p:pic>
        <p:nvPicPr>
          <p:cNvPr descr="Celestia-R1---OverlayContentHD.png" id="134" name="Google Shape;134;p18"/>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135" name="Google Shape;135;p18"/>
          <p:cNvSpPr txBox="1"/>
          <p:nvPr>
            <p:ph type="title"/>
          </p:nvPr>
        </p:nvSpPr>
        <p:spPr>
          <a:xfrm rot="5400000">
            <a:off x="7147151" y="2121124"/>
            <a:ext cx="5181601" cy="2158552"/>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8"/>
          <p:cNvSpPr txBox="1"/>
          <p:nvPr>
            <p:ph idx="1" type="body"/>
          </p:nvPr>
        </p:nvSpPr>
        <p:spPr>
          <a:xfrm rot="5400000">
            <a:off x="2011058" y="-715658"/>
            <a:ext cx="5181600" cy="783211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1000"/>
              </a:spcAft>
              <a:buSzPts val="1800"/>
              <a:buChar char="•"/>
              <a:defRPr/>
            </a:lvl9pPr>
          </a:lstStyle>
          <a:p/>
        </p:txBody>
      </p:sp>
      <p:sp>
        <p:nvSpPr>
          <p:cNvPr id="137" name="Google Shape;137;p18"/>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18"/>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18"/>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85801" y="609600"/>
            <a:ext cx="10131425" cy="1456267"/>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lt1"/>
              </a:buClr>
              <a:buSzPts val="3600"/>
              <a:buFont typeface="Calibri"/>
              <a:buNone/>
              <a:defRPr b="0" i="0" sz="36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9pPr>
          </a:lstStyle>
          <a:p/>
        </p:txBody>
      </p:sp>
      <p:sp>
        <p:nvSpPr>
          <p:cNvPr id="7" name="Google Shape;7;p1"/>
          <p:cNvSpPr txBox="1"/>
          <p:nvPr>
            <p:ph idx="1" type="body"/>
          </p:nvPr>
        </p:nvSpPr>
        <p:spPr>
          <a:xfrm>
            <a:off x="685801" y="2142067"/>
            <a:ext cx="10131425" cy="3649133"/>
          </a:xfrm>
          <a:prstGeom prst="rect">
            <a:avLst/>
          </a:prstGeom>
          <a:noFill/>
          <a:ln>
            <a:noFill/>
          </a:ln>
        </p:spPr>
        <p:txBody>
          <a:bodyPr anchorCtr="0" anchor="ctr" bIns="45700" lIns="91425" spcFirstLastPara="1" rIns="91425" wrap="square" tIns="45700">
            <a:normAutofit/>
          </a:bodyPr>
          <a:lstStyle>
            <a:lvl1pPr indent="-342900" lvl="0" marL="457200" marR="0" rtl="0" algn="l">
              <a:lnSpc>
                <a:spcPct val="100000"/>
              </a:lnSpc>
              <a:spcBef>
                <a:spcPts val="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1pPr>
            <a:lvl2pPr indent="-330200" lvl="1" marL="914400" marR="0" rtl="0" algn="l">
              <a:lnSpc>
                <a:spcPct val="100000"/>
              </a:lnSpc>
              <a:spcBef>
                <a:spcPts val="1000"/>
              </a:spcBef>
              <a:spcAft>
                <a:spcPts val="0"/>
              </a:spcAft>
              <a:buClr>
                <a:schemeClr val="lt1"/>
              </a:buClr>
              <a:buSzPts val="1600"/>
              <a:buFont typeface="Arial"/>
              <a:buChar char="•"/>
              <a:defRPr b="0" i="0" sz="1600" u="none" cap="none" strike="noStrike">
                <a:solidFill>
                  <a:schemeClr val="lt1"/>
                </a:solidFill>
                <a:latin typeface="Calibri"/>
                <a:ea typeface="Calibri"/>
                <a:cs typeface="Calibri"/>
                <a:sym typeface="Calibri"/>
              </a:defRPr>
            </a:lvl2pPr>
            <a:lvl3pPr indent="-317500" lvl="2" marL="1371600" marR="0" rtl="0" algn="l">
              <a:lnSpc>
                <a:spcPct val="100000"/>
              </a:lnSpc>
              <a:spcBef>
                <a:spcPts val="10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3pPr>
            <a:lvl4pPr indent="-304800" lvl="3" marL="18288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4pPr>
            <a:lvl5pPr indent="-304800" lvl="4" marL="22860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5pPr>
            <a:lvl6pPr indent="-304800" lvl="5" marL="27432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6pPr>
            <a:lvl7pPr indent="-304800" lvl="6" marL="32004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7pPr>
            <a:lvl8pPr indent="-304800" lvl="7" marL="3657600" marR="0" rtl="0" algn="l">
              <a:lnSpc>
                <a:spcPct val="100000"/>
              </a:lnSpc>
              <a:spcBef>
                <a:spcPts val="10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8pPr>
            <a:lvl9pPr indent="-304800" lvl="8" marL="4114800" marR="0" rtl="0" algn="l">
              <a:lnSpc>
                <a:spcPct val="100000"/>
              </a:lnSpc>
              <a:spcBef>
                <a:spcPts val="1000"/>
              </a:spcBef>
              <a:spcAft>
                <a:spcPts val="100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9pPr>
          </a:lstStyle>
          <a:p/>
        </p:txBody>
      </p:sp>
      <p:sp>
        <p:nvSpPr>
          <p:cNvPr id="8" name="Google Shape;8;p1"/>
          <p:cNvSpPr txBox="1"/>
          <p:nvPr>
            <p:ph idx="10" type="dt"/>
          </p:nvPr>
        </p:nvSpPr>
        <p:spPr>
          <a:xfrm>
            <a:off x="8589660" y="5870575"/>
            <a:ext cx="1600200" cy="3778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9" name="Google Shape;9;p1"/>
          <p:cNvSpPr txBox="1"/>
          <p:nvPr>
            <p:ph idx="11" type="ftr"/>
          </p:nvPr>
        </p:nvSpPr>
        <p:spPr>
          <a:xfrm>
            <a:off x="685800" y="5870575"/>
            <a:ext cx="7827659" cy="3778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9pPr>
          </a:lstStyle>
          <a:p/>
        </p:txBody>
      </p:sp>
      <p:sp>
        <p:nvSpPr>
          <p:cNvPr id="10" name="Google Shape;10;p1"/>
          <p:cNvSpPr txBox="1"/>
          <p:nvPr>
            <p:ph idx="12" type="sldNum"/>
          </p:nvPr>
        </p:nvSpPr>
        <p:spPr>
          <a:xfrm>
            <a:off x="10266060" y="5870575"/>
            <a:ext cx="551167" cy="3778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ph type="ctrTitle"/>
          </p:nvPr>
        </p:nvSpPr>
        <p:spPr>
          <a:xfrm>
            <a:off x="830633" y="868892"/>
            <a:ext cx="10530733" cy="2421464"/>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3400">
                <a:latin typeface="Play"/>
                <a:ea typeface="Play"/>
                <a:cs typeface="Play"/>
                <a:sym typeface="Play"/>
              </a:rPr>
              <a:t>A Lock-Assisted Lightweight Quorum Validation</a:t>
            </a:r>
            <a:endParaRPr b="1" sz="3400">
              <a:latin typeface="Play"/>
              <a:ea typeface="Play"/>
              <a:cs typeface="Play"/>
              <a:sym typeface="Play"/>
            </a:endParaRPr>
          </a:p>
          <a:p>
            <a:pPr indent="0" lvl="0" marL="0" rtl="0" algn="l">
              <a:spcBef>
                <a:spcPts val="0"/>
              </a:spcBef>
              <a:spcAft>
                <a:spcPts val="0"/>
              </a:spcAft>
              <a:buClr>
                <a:schemeClr val="dk1"/>
              </a:buClr>
              <a:buSzPts val="1100"/>
              <a:buFont typeface="Arial"/>
              <a:buNone/>
            </a:pPr>
            <a:r>
              <a:rPr b="1" lang="en-US" sz="3400">
                <a:latin typeface="Play"/>
                <a:ea typeface="Play"/>
                <a:cs typeface="Play"/>
                <a:sym typeface="Play"/>
              </a:rPr>
              <a:t>Model for Double-Spend Prevention in Hash-Chain</a:t>
            </a:r>
            <a:endParaRPr b="1" sz="3400">
              <a:latin typeface="Play"/>
              <a:ea typeface="Play"/>
              <a:cs typeface="Play"/>
              <a:sym typeface="Play"/>
            </a:endParaRPr>
          </a:p>
          <a:p>
            <a:pPr indent="0" lvl="0" marL="0" rtl="0" algn="l">
              <a:spcBef>
                <a:spcPts val="0"/>
              </a:spcBef>
              <a:spcAft>
                <a:spcPts val="0"/>
              </a:spcAft>
              <a:buClr>
                <a:schemeClr val="dk1"/>
              </a:buClr>
              <a:buSzPts val="1100"/>
              <a:buFont typeface="Arial"/>
              <a:buNone/>
            </a:pPr>
            <a:r>
              <a:rPr b="1" lang="en-US" sz="3400">
                <a:latin typeface="Play"/>
                <a:ea typeface="Play"/>
                <a:cs typeface="Play"/>
                <a:sym typeface="Play"/>
              </a:rPr>
              <a:t>IoT Micropayments</a:t>
            </a:r>
            <a:endParaRPr b="1" sz="3400">
              <a:latin typeface="Play"/>
              <a:ea typeface="Play"/>
              <a:cs typeface="Play"/>
              <a:sym typeface="Play"/>
            </a:endParaRPr>
          </a:p>
          <a:p>
            <a:pPr indent="0" lvl="0" marL="0" rtl="0" algn="l">
              <a:lnSpc>
                <a:spcPct val="100000"/>
              </a:lnSpc>
              <a:spcBef>
                <a:spcPts val="0"/>
              </a:spcBef>
              <a:spcAft>
                <a:spcPts val="0"/>
              </a:spcAft>
              <a:buClr>
                <a:schemeClr val="lt1"/>
              </a:buClr>
              <a:buSzPts val="2800"/>
              <a:buFont typeface="Play"/>
              <a:buNone/>
            </a:pPr>
            <a:r>
              <a:t/>
            </a:r>
            <a:endParaRPr b="1" sz="3400">
              <a:latin typeface="Play"/>
              <a:ea typeface="Play"/>
              <a:cs typeface="Play"/>
              <a:sym typeface="Play"/>
            </a:endParaRPr>
          </a:p>
        </p:txBody>
      </p:sp>
      <p:sp>
        <p:nvSpPr>
          <p:cNvPr id="145" name="Google Shape;145;p19"/>
          <p:cNvSpPr txBox="1"/>
          <p:nvPr>
            <p:ph idx="1" type="subTitle"/>
          </p:nvPr>
        </p:nvSpPr>
        <p:spPr>
          <a:xfrm>
            <a:off x="831050" y="4112600"/>
            <a:ext cx="10530900" cy="1164300"/>
          </a:xfrm>
          <a:prstGeom prst="rect">
            <a:avLst/>
          </a:prstGeom>
          <a:noFill/>
          <a:ln>
            <a:noFill/>
          </a:ln>
        </p:spPr>
        <p:txBody>
          <a:bodyPr anchorCtr="0" anchor="t" bIns="45700" lIns="91425" spcFirstLastPara="1" rIns="91425" wrap="square" tIns="45700">
            <a:normAutofit/>
          </a:bodyPr>
          <a:lstStyle/>
          <a:p>
            <a:pPr indent="0" lvl="0" marL="0" rtl="0" algn="l">
              <a:spcBef>
                <a:spcPts val="1000"/>
              </a:spcBef>
              <a:spcAft>
                <a:spcPts val="0"/>
              </a:spcAft>
              <a:buSzPts val="1900"/>
              <a:buNone/>
            </a:pPr>
            <a:r>
              <a:rPr b="1" lang="en-US" sz="2300">
                <a:latin typeface="Play"/>
                <a:ea typeface="Play"/>
                <a:cs typeface="Play"/>
                <a:sym typeface="Play"/>
              </a:rPr>
              <a:t>MUSTAFA CAN ÇALIŞKAN, 504251544</a:t>
            </a:r>
            <a:endParaRPr b="1" sz="2300">
              <a:latin typeface="Play"/>
              <a:ea typeface="Play"/>
              <a:cs typeface="Play"/>
              <a:sym typeface="Play"/>
            </a:endParaRPr>
          </a:p>
          <a:p>
            <a:pPr indent="0" lvl="0" marL="0" rtl="0" algn="l">
              <a:spcBef>
                <a:spcPts val="1000"/>
              </a:spcBef>
              <a:spcAft>
                <a:spcPts val="0"/>
              </a:spcAft>
              <a:buClr>
                <a:schemeClr val="dk1"/>
              </a:buClr>
              <a:buSzPts val="1900"/>
              <a:buFont typeface="Arial"/>
              <a:buNone/>
            </a:pPr>
            <a:r>
              <a:rPr b="1" lang="en-US" sz="2300">
                <a:latin typeface="Play"/>
                <a:ea typeface="Play"/>
                <a:cs typeface="Play"/>
                <a:sym typeface="Play"/>
              </a:rPr>
              <a:t>BLG 640E - Security in Financial Information Systems</a:t>
            </a:r>
            <a:endParaRPr b="1" sz="2300">
              <a:latin typeface="Play"/>
              <a:ea typeface="Play"/>
              <a:cs typeface="Play"/>
              <a:sym typeface="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200"/>
              <a:buFont typeface="Play"/>
              <a:buNone/>
            </a:pPr>
            <a:r>
              <a:rPr b="1" lang="en-US" sz="3200">
                <a:latin typeface="Play"/>
                <a:ea typeface="Play"/>
                <a:cs typeface="Play"/>
                <a:sym typeface="Play"/>
              </a:rPr>
              <a:t>The Problem</a:t>
            </a:r>
            <a:endParaRPr/>
          </a:p>
        </p:txBody>
      </p:sp>
      <p:sp>
        <p:nvSpPr>
          <p:cNvPr id="151" name="Google Shape;151;p20"/>
          <p:cNvSpPr txBox="1"/>
          <p:nvPr/>
        </p:nvSpPr>
        <p:spPr>
          <a:xfrm>
            <a:off x="685800" y="1780125"/>
            <a:ext cx="5613000" cy="4416300"/>
          </a:xfrm>
          <a:prstGeom prst="rect">
            <a:avLst/>
          </a:prstGeom>
          <a:noFill/>
          <a:ln>
            <a:noFill/>
          </a:ln>
        </p:spPr>
        <p:txBody>
          <a:bodyPr anchorCtr="0" anchor="ctr" bIns="45700" lIns="91425" spcFirstLastPara="1" rIns="91425" wrap="square" tIns="45700">
            <a:normAutofit/>
          </a:bodyPr>
          <a:lstStyle/>
          <a:p>
            <a:pPr indent="-342900" lvl="0" marL="457200" rtl="0" algn="l">
              <a:lnSpc>
                <a:spcPct val="150000"/>
              </a:lnSpc>
              <a:spcBef>
                <a:spcPts val="0"/>
              </a:spcBef>
              <a:spcAft>
                <a:spcPts val="0"/>
              </a:spcAft>
              <a:buClr>
                <a:schemeClr val="lt1"/>
              </a:buClr>
              <a:buSzPts val="1800"/>
              <a:buChar char="•"/>
            </a:pPr>
            <a:r>
              <a:rPr b="1" lang="en-US" sz="1800">
                <a:solidFill>
                  <a:schemeClr val="lt1"/>
                </a:solidFill>
                <a:latin typeface="Play"/>
                <a:ea typeface="Play"/>
                <a:cs typeface="Play"/>
                <a:sym typeface="Play"/>
              </a:rPr>
              <a:t>IoT devices: many small payments, sometimes one cent</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Char char="•"/>
            </a:pPr>
            <a:r>
              <a:rPr b="1" lang="en-US" sz="1800">
                <a:solidFill>
                  <a:schemeClr val="lt1"/>
                </a:solidFill>
                <a:latin typeface="Play"/>
                <a:ea typeface="Play"/>
                <a:cs typeface="Play"/>
                <a:sym typeface="Play"/>
              </a:rPr>
              <a:t>Blockchain is too slow and too expensive for this</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Char char="•"/>
            </a:pPr>
            <a:r>
              <a:rPr b="1" lang="en-US" sz="1800">
                <a:solidFill>
                  <a:schemeClr val="lt1"/>
                </a:solidFill>
                <a:latin typeface="Play"/>
                <a:ea typeface="Play"/>
                <a:cs typeface="Play"/>
                <a:sym typeface="Play"/>
              </a:rPr>
              <a:t>Double-spending: same coin sent to two merchants at the same time</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Char char="•"/>
            </a:pPr>
            <a:r>
              <a:rPr b="1" lang="en-US" sz="1800">
                <a:solidFill>
                  <a:schemeClr val="lt1"/>
                </a:solidFill>
                <a:latin typeface="Play"/>
                <a:ea typeface="Play"/>
                <a:cs typeface="Play"/>
                <a:sym typeface="Play"/>
              </a:rPr>
              <a:t>Question: Can I prevent double-spending without a full blockchain?</a:t>
            </a:r>
            <a:endParaRPr b="1" sz="1800">
              <a:solidFill>
                <a:schemeClr val="lt1"/>
              </a:solidFill>
              <a:latin typeface="Play"/>
              <a:ea typeface="Play"/>
              <a:cs typeface="Play"/>
              <a:sym typeface="Play"/>
            </a:endParaRPr>
          </a:p>
        </p:txBody>
      </p:sp>
      <p:pic>
        <p:nvPicPr>
          <p:cNvPr id="152" name="Google Shape;152;p20"/>
          <p:cNvPicPr preferRelativeResize="0"/>
          <p:nvPr/>
        </p:nvPicPr>
        <p:blipFill>
          <a:blip r:embed="rId3">
            <a:alphaModFix/>
          </a:blip>
          <a:stretch>
            <a:fillRect/>
          </a:stretch>
        </p:blipFill>
        <p:spPr>
          <a:xfrm>
            <a:off x="6852150" y="2499450"/>
            <a:ext cx="4466475" cy="2977650"/>
          </a:xfrm>
          <a:prstGeom prst="rect">
            <a:avLst/>
          </a:prstGeom>
          <a:noFill/>
          <a:ln>
            <a:noFill/>
          </a:ln>
        </p:spPr>
      </p:pic>
      <p:sp>
        <p:nvSpPr>
          <p:cNvPr id="153" name="Google Shape;153;p20"/>
          <p:cNvSpPr txBox="1"/>
          <p:nvPr/>
        </p:nvSpPr>
        <p:spPr>
          <a:xfrm>
            <a:off x="286875" y="6348425"/>
            <a:ext cx="11407800" cy="326100"/>
          </a:xfrm>
          <a:prstGeom prst="rect">
            <a:avLst/>
          </a:prstGeom>
          <a:noFill/>
          <a:ln>
            <a:noFill/>
          </a:ln>
        </p:spPr>
        <p:txBody>
          <a:bodyPr anchorCtr="0" anchor="ctr" bIns="45700" lIns="91425" spcFirstLastPara="1" rIns="91425" wrap="square" tIns="45700">
            <a:normAutofit/>
          </a:bodyPr>
          <a:lstStyle/>
          <a:p>
            <a:pPr indent="0" lvl="0" marL="0" marR="0" rtl="0" algn="l">
              <a:lnSpc>
                <a:spcPct val="150000"/>
              </a:lnSpc>
              <a:spcBef>
                <a:spcPts val="0"/>
              </a:spcBef>
              <a:spcAft>
                <a:spcPts val="0"/>
              </a:spcAft>
              <a:buSzPts val="935"/>
              <a:buNone/>
            </a:pPr>
            <a:r>
              <a:rPr lang="en-US" sz="1030">
                <a:solidFill>
                  <a:schemeClr val="lt1"/>
                </a:solidFill>
                <a:latin typeface="Play"/>
                <a:ea typeface="Play"/>
                <a:cs typeface="Play"/>
                <a:sym typeface="Play"/>
              </a:rPr>
              <a:t>Stock photo source: https://www.globalsign.com/en/blog/what-internet-things-and-how-does-it-work</a:t>
            </a:r>
            <a:endParaRPr sz="1030">
              <a:solidFill>
                <a:schemeClr val="lt1"/>
              </a:solidFill>
              <a:latin typeface="Play"/>
              <a:ea typeface="Play"/>
              <a:cs typeface="Play"/>
              <a:sym typeface="Pl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1"/>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200"/>
              <a:buFont typeface="Play"/>
              <a:buNone/>
            </a:pPr>
            <a:r>
              <a:rPr b="1" lang="en-US" sz="3200">
                <a:latin typeface="Play"/>
                <a:ea typeface="Play"/>
                <a:cs typeface="Play"/>
                <a:sym typeface="Play"/>
              </a:rPr>
              <a:t>Hash Chain Refresher</a:t>
            </a:r>
            <a:endParaRPr/>
          </a:p>
        </p:txBody>
      </p:sp>
      <p:sp>
        <p:nvSpPr>
          <p:cNvPr id="159" name="Google Shape;159;p21"/>
          <p:cNvSpPr txBox="1"/>
          <p:nvPr/>
        </p:nvSpPr>
        <p:spPr>
          <a:xfrm>
            <a:off x="685800" y="1780125"/>
            <a:ext cx="9460500" cy="3470400"/>
          </a:xfrm>
          <a:prstGeom prst="rect">
            <a:avLst/>
          </a:prstGeom>
          <a:noFill/>
          <a:ln>
            <a:noFill/>
          </a:ln>
        </p:spPr>
        <p:txBody>
          <a:bodyPr anchorCtr="0" anchor="ctr" bIns="45700" lIns="91425" spcFirstLastPara="1" rIns="91425" wrap="square" tIns="45700">
            <a:normAutofit/>
          </a:bodyPr>
          <a:lstStyle/>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Hash function (e.g. SHA-256): easy forward, almost impossible backward → "one-way"</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Build a chain: start from a seed, hash again and again → t₀, t₁, t₂, ...</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Each payment reveals one token + its predecessor</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Verifier does one hash to check → very cheap</a:t>
            </a:r>
            <a:endParaRPr b="1" sz="1800">
              <a:solidFill>
                <a:schemeClr val="lt1"/>
              </a:solidFill>
              <a:latin typeface="Play"/>
              <a:ea typeface="Play"/>
              <a:cs typeface="Play"/>
              <a:sym typeface="Play"/>
            </a:endParaRPr>
          </a:p>
        </p:txBody>
      </p:sp>
      <p:pic>
        <p:nvPicPr>
          <p:cNvPr id="160" name="Google Shape;160;p21"/>
          <p:cNvPicPr preferRelativeResize="0"/>
          <p:nvPr/>
        </p:nvPicPr>
        <p:blipFill>
          <a:blip r:embed="rId3">
            <a:alphaModFix/>
          </a:blip>
          <a:stretch>
            <a:fillRect/>
          </a:stretch>
        </p:blipFill>
        <p:spPr>
          <a:xfrm>
            <a:off x="1612903" y="4941526"/>
            <a:ext cx="8966199" cy="1060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2"/>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200"/>
              <a:buFont typeface="Play"/>
              <a:buNone/>
            </a:pPr>
            <a:r>
              <a:rPr b="1" lang="en-US" sz="3200">
                <a:latin typeface="Play"/>
                <a:ea typeface="Play"/>
                <a:cs typeface="Play"/>
                <a:sym typeface="Play"/>
              </a:rPr>
              <a:t>My Approach: Validators + Quorum</a:t>
            </a:r>
            <a:endParaRPr/>
          </a:p>
        </p:txBody>
      </p:sp>
      <p:sp>
        <p:nvSpPr>
          <p:cNvPr id="166" name="Google Shape;166;p22"/>
          <p:cNvSpPr txBox="1"/>
          <p:nvPr/>
        </p:nvSpPr>
        <p:spPr>
          <a:xfrm>
            <a:off x="685800" y="1780125"/>
            <a:ext cx="5613000" cy="4416300"/>
          </a:xfrm>
          <a:prstGeom prst="rect">
            <a:avLst/>
          </a:prstGeom>
          <a:noFill/>
          <a:ln>
            <a:noFill/>
          </a:ln>
        </p:spPr>
        <p:txBody>
          <a:bodyPr anchorCtr="0" anchor="ctr" bIns="45700" lIns="91425" spcFirstLastPara="1" rIns="91425" wrap="square" tIns="45700">
            <a:normAutofit/>
          </a:bodyPr>
          <a:lstStyle/>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Validators: a small fixed group of simple servers (5 in my system)</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Each validator only remembers which tokens are already spent — nothing else</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Quorum: the merchant needs q out of n approvals (e.g. 3 of 5)</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A lock step is added before final approval → main contribution, next slide</a:t>
            </a:r>
            <a:endParaRPr b="1" sz="1800">
              <a:solidFill>
                <a:schemeClr val="lt1"/>
              </a:solidFill>
              <a:latin typeface="Play"/>
              <a:ea typeface="Play"/>
              <a:cs typeface="Play"/>
              <a:sym typeface="Play"/>
            </a:endParaRPr>
          </a:p>
        </p:txBody>
      </p:sp>
      <p:pic>
        <p:nvPicPr>
          <p:cNvPr id="167" name="Google Shape;167;p22"/>
          <p:cNvPicPr preferRelativeResize="0"/>
          <p:nvPr/>
        </p:nvPicPr>
        <p:blipFill>
          <a:blip r:embed="rId3">
            <a:alphaModFix/>
          </a:blip>
          <a:stretch>
            <a:fillRect/>
          </a:stretch>
        </p:blipFill>
        <p:spPr>
          <a:xfrm>
            <a:off x="6298800" y="2563538"/>
            <a:ext cx="5468875" cy="2849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3"/>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200"/>
              <a:buFont typeface="Play"/>
              <a:buNone/>
            </a:pPr>
            <a:r>
              <a:rPr b="1" lang="en-US" sz="3200">
                <a:latin typeface="Play"/>
                <a:ea typeface="Play"/>
                <a:cs typeface="Play"/>
                <a:sym typeface="Play"/>
              </a:rPr>
              <a:t>Lock/Lease: Two-Phase Protocol</a:t>
            </a:r>
            <a:endParaRPr/>
          </a:p>
        </p:txBody>
      </p:sp>
      <p:sp>
        <p:nvSpPr>
          <p:cNvPr id="173" name="Google Shape;173;p23"/>
          <p:cNvSpPr txBox="1"/>
          <p:nvPr/>
        </p:nvSpPr>
        <p:spPr>
          <a:xfrm>
            <a:off x="685800" y="1780125"/>
            <a:ext cx="5613000" cy="4416300"/>
          </a:xfrm>
          <a:prstGeom prst="rect">
            <a:avLst/>
          </a:prstGeom>
          <a:noFill/>
          <a:ln>
            <a:noFill/>
          </a:ln>
        </p:spPr>
        <p:txBody>
          <a:bodyPr anchorCtr="0" anchor="ctr" bIns="45700" lIns="91425" spcFirstLastPara="1" rIns="91425" wrap="square" tIns="45700">
            <a:normAutofit fontScale="85000"/>
          </a:bodyPr>
          <a:lstStyle/>
          <a:p>
            <a:pPr indent="-325755" lvl="0" marL="4572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Phase 1 — Lock</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Merchant asks all validators to lock the token</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Validator checks: (1) hash valid? (2) not spent? (3) not locked by another?</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If OK → lock with a lease (short timeout)</a:t>
            </a:r>
            <a:endParaRPr b="1" sz="1800">
              <a:solidFill>
                <a:schemeClr val="lt1"/>
              </a:solidFill>
              <a:latin typeface="Play"/>
              <a:ea typeface="Play"/>
              <a:cs typeface="Play"/>
              <a:sym typeface="Play"/>
            </a:endParaRPr>
          </a:p>
          <a:p>
            <a:pPr indent="-325755" lvl="0" marL="4572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Phase 2 — Commit</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Merchant has ≥ q locks → asks validators to commit</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Validator marks the token as permanently spent</a:t>
            </a:r>
            <a:endParaRPr b="1" sz="1800">
              <a:solidFill>
                <a:schemeClr val="lt1"/>
              </a:solidFill>
              <a:latin typeface="Play"/>
              <a:ea typeface="Play"/>
              <a:cs typeface="Play"/>
              <a:sym typeface="Play"/>
            </a:endParaRPr>
          </a:p>
          <a:p>
            <a:pPr indent="-325755" lvl="0" marL="4572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If commit does not arrive in time → lock expires automatically</a:t>
            </a:r>
            <a:endParaRPr b="1" sz="1800">
              <a:solidFill>
                <a:schemeClr val="lt1"/>
              </a:solidFill>
              <a:latin typeface="Play"/>
              <a:ea typeface="Play"/>
              <a:cs typeface="Play"/>
              <a:sym typeface="Play"/>
            </a:endParaRPr>
          </a:p>
          <a:p>
            <a:pPr indent="-325755" lvl="0" marL="4572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Per validator: first request wins, second is rejected</a:t>
            </a:r>
            <a:endParaRPr b="1" sz="1800">
              <a:solidFill>
                <a:schemeClr val="lt1"/>
              </a:solidFill>
              <a:latin typeface="Play"/>
              <a:ea typeface="Play"/>
              <a:cs typeface="Play"/>
              <a:sym typeface="Play"/>
            </a:endParaRPr>
          </a:p>
        </p:txBody>
      </p:sp>
      <p:pic>
        <p:nvPicPr>
          <p:cNvPr id="174" name="Google Shape;174;p23"/>
          <p:cNvPicPr preferRelativeResize="0"/>
          <p:nvPr/>
        </p:nvPicPr>
        <p:blipFill>
          <a:blip r:embed="rId3">
            <a:alphaModFix/>
          </a:blip>
          <a:stretch>
            <a:fillRect/>
          </a:stretch>
        </p:blipFill>
        <p:spPr>
          <a:xfrm>
            <a:off x="7602350" y="1825300"/>
            <a:ext cx="3604949" cy="432593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4"/>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200"/>
              <a:buFont typeface="Play"/>
              <a:buNone/>
            </a:pPr>
            <a:r>
              <a:rPr b="1" lang="en-US" sz="3200">
                <a:latin typeface="Play"/>
                <a:ea typeface="Play"/>
                <a:cs typeface="Play"/>
                <a:sym typeface="Play"/>
              </a:rPr>
              <a:t>Safety Condition</a:t>
            </a:r>
            <a:endParaRPr/>
          </a:p>
        </p:txBody>
      </p:sp>
      <p:sp>
        <p:nvSpPr>
          <p:cNvPr id="180" name="Google Shape;180;p24"/>
          <p:cNvSpPr txBox="1"/>
          <p:nvPr/>
        </p:nvSpPr>
        <p:spPr>
          <a:xfrm>
            <a:off x="685800" y="1780125"/>
            <a:ext cx="5613000" cy="4416300"/>
          </a:xfrm>
          <a:prstGeom prst="rect">
            <a:avLst/>
          </a:prstGeom>
          <a:noFill/>
          <a:ln>
            <a:noFill/>
          </a:ln>
        </p:spPr>
        <p:txBody>
          <a:bodyPr anchorCtr="0" anchor="ctr" bIns="45700" lIns="91425" spcFirstLastPara="1" rIns="91425" wrap="square" tIns="45700">
            <a:normAutofit/>
          </a:bodyPr>
          <a:lstStyle/>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Safety condition:   2q − n  ≥  f_b + 1</a:t>
            </a:r>
            <a:endParaRPr b="1" sz="1800">
              <a:solidFill>
                <a:schemeClr val="lt1"/>
              </a:solidFill>
              <a:latin typeface="Play"/>
              <a:ea typeface="Play"/>
              <a:cs typeface="Play"/>
              <a:sym typeface="Play"/>
            </a:endParaRPr>
          </a:p>
          <a:p>
            <a:pPr indent="-342900" lvl="1" marL="9144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n : total validators  ·  q : quorum size  ·  f_b : byzantine (malicious) validators</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Two quorums of size q must overlap by at least 2q − n validators</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Overlap must contain at least one honest validator</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Example.  n = 5,  f_b = 2  →  need q ≥ 4  (q = 3 is not enough)</a:t>
            </a:r>
            <a:endParaRPr b="1" sz="1800">
              <a:solidFill>
                <a:schemeClr val="lt1"/>
              </a:solidFill>
              <a:latin typeface="Play"/>
              <a:ea typeface="Play"/>
              <a:cs typeface="Play"/>
              <a:sym typeface="Play"/>
            </a:endParaRPr>
          </a:p>
        </p:txBody>
      </p:sp>
      <p:pic>
        <p:nvPicPr>
          <p:cNvPr id="181" name="Google Shape;181;p24"/>
          <p:cNvPicPr preferRelativeResize="0"/>
          <p:nvPr/>
        </p:nvPicPr>
        <p:blipFill>
          <a:blip r:embed="rId3">
            <a:alphaModFix/>
          </a:blip>
          <a:stretch>
            <a:fillRect/>
          </a:stretch>
        </p:blipFill>
        <p:spPr>
          <a:xfrm>
            <a:off x="7095050" y="1744575"/>
            <a:ext cx="4039257" cy="4487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5"/>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200"/>
              <a:buFont typeface="Play"/>
              <a:buNone/>
            </a:pPr>
            <a:r>
              <a:rPr b="1" lang="en-US" sz="3200">
                <a:latin typeface="Play"/>
                <a:ea typeface="Play"/>
                <a:cs typeface="Play"/>
                <a:sym typeface="Play"/>
              </a:rPr>
              <a:t>Liveness &amp; Trade-off</a:t>
            </a:r>
            <a:endParaRPr/>
          </a:p>
        </p:txBody>
      </p:sp>
      <p:sp>
        <p:nvSpPr>
          <p:cNvPr id="187" name="Google Shape;187;p25"/>
          <p:cNvSpPr txBox="1"/>
          <p:nvPr/>
        </p:nvSpPr>
        <p:spPr>
          <a:xfrm>
            <a:off x="685800" y="1780125"/>
            <a:ext cx="5613000" cy="4416300"/>
          </a:xfrm>
          <a:prstGeom prst="rect">
            <a:avLst/>
          </a:prstGeom>
          <a:noFill/>
          <a:ln>
            <a:noFill/>
          </a:ln>
        </p:spPr>
        <p:txBody>
          <a:bodyPr anchorCtr="0" anchor="ctr" bIns="45700" lIns="91425" spcFirstLastPara="1" rIns="91425" wrap="square" tIns="45700">
            <a:normAutofit/>
          </a:bodyPr>
          <a:lstStyle/>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Liveness condition:   n − f_c  ≥  q</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f_c : number of crashed (silent) validators</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Need enough alive validators to form a quorum</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Trade-off: larger q  →  safer, but less tolerant to crashes</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Valid range:   ⌈(n + f_b + 1) / 2⌉  ≤  q  ≤  n − f_c</a:t>
            </a:r>
            <a:endParaRPr b="1" sz="1800">
              <a:solidFill>
                <a:schemeClr val="lt1"/>
              </a:solidFill>
              <a:latin typeface="Play"/>
              <a:ea typeface="Play"/>
              <a:cs typeface="Play"/>
              <a:sym typeface="Play"/>
            </a:endParaRPr>
          </a:p>
        </p:txBody>
      </p:sp>
      <p:pic>
        <p:nvPicPr>
          <p:cNvPr id="188" name="Google Shape;188;p25"/>
          <p:cNvPicPr preferRelativeResize="0"/>
          <p:nvPr/>
        </p:nvPicPr>
        <p:blipFill>
          <a:blip r:embed="rId3">
            <a:alphaModFix/>
          </a:blip>
          <a:stretch>
            <a:fillRect/>
          </a:stretch>
        </p:blipFill>
        <p:spPr>
          <a:xfrm>
            <a:off x="6849250" y="2885600"/>
            <a:ext cx="4623899" cy="722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6"/>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200"/>
              <a:buFont typeface="Play"/>
              <a:buNone/>
            </a:pPr>
            <a:r>
              <a:rPr b="1" lang="en-US" sz="3200">
                <a:latin typeface="Play"/>
                <a:ea typeface="Play"/>
                <a:cs typeface="Play"/>
                <a:sym typeface="Play"/>
              </a:rPr>
              <a:t>Experimental Setup</a:t>
            </a:r>
            <a:endParaRPr/>
          </a:p>
        </p:txBody>
      </p:sp>
      <p:sp>
        <p:nvSpPr>
          <p:cNvPr id="194" name="Google Shape;194;p26"/>
          <p:cNvSpPr txBox="1"/>
          <p:nvPr/>
        </p:nvSpPr>
        <p:spPr>
          <a:xfrm>
            <a:off x="685800" y="1780125"/>
            <a:ext cx="5613000" cy="4416300"/>
          </a:xfrm>
          <a:prstGeom prst="rect">
            <a:avLst/>
          </a:prstGeom>
          <a:noFill/>
          <a:ln>
            <a:noFill/>
          </a:ln>
        </p:spPr>
        <p:txBody>
          <a:bodyPr anchorCtr="0" anchor="ctr" bIns="45700" lIns="91425" spcFirstLastPara="1" rIns="91425" wrap="square" tIns="45700">
            <a:normAutofit fontScale="77500"/>
          </a:bodyPr>
          <a:lstStyle/>
          <a:p>
            <a:pPr indent="-317183" lvl="0" marL="4572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Real running system on Docker Compose — 9 isolated containers</a:t>
            </a:r>
            <a:endParaRPr b="1" sz="1800">
              <a:solidFill>
                <a:schemeClr val="lt1"/>
              </a:solidFill>
              <a:latin typeface="Play"/>
              <a:ea typeface="Play"/>
              <a:cs typeface="Play"/>
              <a:sym typeface="Play"/>
            </a:endParaRPr>
          </a:p>
          <a:p>
            <a:pPr indent="-317183" lvl="0" marL="4572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1 payer · 2 merchants · 5 validators · 1 experiment runner · 1 reporter</a:t>
            </a:r>
            <a:endParaRPr b="1" sz="1800">
              <a:solidFill>
                <a:schemeClr val="lt1"/>
              </a:solidFill>
              <a:latin typeface="Play"/>
              <a:ea typeface="Play"/>
              <a:cs typeface="Play"/>
              <a:sym typeface="Play"/>
            </a:endParaRPr>
          </a:p>
          <a:p>
            <a:pPr indent="-317183" lvl="0" marL="4572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Stack: Python 3.11 + FastAPI + HTTP between containers</a:t>
            </a:r>
            <a:endParaRPr b="1" sz="1800">
              <a:solidFill>
                <a:schemeClr val="lt1"/>
              </a:solidFill>
              <a:latin typeface="Play"/>
              <a:ea typeface="Play"/>
              <a:cs typeface="Play"/>
              <a:sym typeface="Play"/>
            </a:endParaRPr>
          </a:p>
          <a:p>
            <a:pPr indent="-317183" lvl="0" marL="4572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Two modes compared:</a:t>
            </a:r>
            <a:endParaRPr b="1" sz="1800">
              <a:solidFill>
                <a:schemeClr val="lt1"/>
              </a:solidFill>
              <a:latin typeface="Play"/>
              <a:ea typeface="Play"/>
              <a:cs typeface="Play"/>
              <a:sym typeface="Play"/>
            </a:endParaRPr>
          </a:p>
          <a:p>
            <a:pPr indent="-317182"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Baseline: simple spent-check (no lock)</a:t>
            </a:r>
            <a:endParaRPr b="1" sz="1800">
              <a:solidFill>
                <a:schemeClr val="lt1"/>
              </a:solidFill>
              <a:latin typeface="Play"/>
              <a:ea typeface="Play"/>
              <a:cs typeface="Play"/>
              <a:sym typeface="Play"/>
            </a:endParaRPr>
          </a:p>
          <a:p>
            <a:pPr indent="-317182"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Lock/Lease: my two-phase protocol</a:t>
            </a:r>
            <a:endParaRPr b="1" sz="1800">
              <a:solidFill>
                <a:schemeClr val="lt1"/>
              </a:solidFill>
              <a:latin typeface="Play"/>
              <a:ea typeface="Play"/>
              <a:cs typeface="Play"/>
              <a:sym typeface="Play"/>
            </a:endParaRPr>
          </a:p>
          <a:p>
            <a:pPr indent="-317183" lvl="0" marL="4572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Faults simulated:</a:t>
            </a:r>
            <a:endParaRPr b="1" sz="1800">
              <a:solidFill>
                <a:schemeClr val="lt1"/>
              </a:solidFill>
              <a:latin typeface="Play"/>
              <a:ea typeface="Play"/>
              <a:cs typeface="Play"/>
              <a:sym typeface="Play"/>
            </a:endParaRPr>
          </a:p>
          <a:p>
            <a:pPr indent="-317182"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Crash: container stopped</a:t>
            </a:r>
            <a:endParaRPr b="1" sz="1800">
              <a:solidFill>
                <a:schemeClr val="lt1"/>
              </a:solidFill>
              <a:latin typeface="Play"/>
              <a:ea typeface="Play"/>
              <a:cs typeface="Play"/>
              <a:sym typeface="Play"/>
            </a:endParaRPr>
          </a:p>
          <a:p>
            <a:pPr indent="-317182"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Byzantine: env flag → validator approves everything</a:t>
            </a:r>
            <a:endParaRPr b="1" sz="1800">
              <a:solidFill>
                <a:schemeClr val="lt1"/>
              </a:solidFill>
              <a:latin typeface="Play"/>
              <a:ea typeface="Play"/>
              <a:cs typeface="Play"/>
              <a:sym typeface="Play"/>
            </a:endParaRPr>
          </a:p>
          <a:p>
            <a:pPr indent="-317183" lvl="0" marL="4572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Scale: 14 scenarios · 100 runs each (50 for throughput) · 20-token chains</a:t>
            </a:r>
            <a:endParaRPr b="1" sz="1800">
              <a:solidFill>
                <a:schemeClr val="lt1"/>
              </a:solidFill>
              <a:latin typeface="Play"/>
              <a:ea typeface="Play"/>
              <a:cs typeface="Play"/>
              <a:sym typeface="Play"/>
            </a:endParaRPr>
          </a:p>
        </p:txBody>
      </p:sp>
      <p:pic>
        <p:nvPicPr>
          <p:cNvPr id="195" name="Google Shape;195;p26"/>
          <p:cNvPicPr preferRelativeResize="0"/>
          <p:nvPr/>
        </p:nvPicPr>
        <p:blipFill>
          <a:blip r:embed="rId3">
            <a:alphaModFix/>
          </a:blip>
          <a:stretch>
            <a:fillRect/>
          </a:stretch>
        </p:blipFill>
        <p:spPr>
          <a:xfrm>
            <a:off x="6806050" y="2477850"/>
            <a:ext cx="4620124" cy="3020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7"/>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200"/>
              <a:buFont typeface="Play"/>
              <a:buNone/>
            </a:pPr>
            <a:r>
              <a:rPr b="1" lang="en-US" sz="3200">
                <a:latin typeface="Play"/>
                <a:ea typeface="Play"/>
                <a:cs typeface="Play"/>
                <a:sym typeface="Play"/>
              </a:rPr>
              <a:t>Result 1: Lock/Lease vs Baseline</a:t>
            </a:r>
            <a:endParaRPr/>
          </a:p>
        </p:txBody>
      </p:sp>
      <p:sp>
        <p:nvSpPr>
          <p:cNvPr id="201" name="Google Shape;201;p27"/>
          <p:cNvSpPr txBox="1"/>
          <p:nvPr/>
        </p:nvSpPr>
        <p:spPr>
          <a:xfrm>
            <a:off x="685800" y="1780125"/>
            <a:ext cx="5613000" cy="4416300"/>
          </a:xfrm>
          <a:prstGeom prst="rect">
            <a:avLst/>
          </a:prstGeom>
          <a:noFill/>
          <a:ln>
            <a:noFill/>
          </a:ln>
        </p:spPr>
        <p:txBody>
          <a:bodyPr anchorCtr="0" anchor="ctr" bIns="45700" lIns="91425" spcFirstLastPara="1" rIns="91425" wrap="square" tIns="45700">
            <a:normAutofit lnSpcReduction="10000"/>
          </a:bodyPr>
          <a:lstStyle/>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Setup: n = 5, q = 3, 100 double-spend attempts</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Lock/Lease:   100 / 100 prevented   →   100 %</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Baseline (spent-check only):   31 / 100 prevented   →   31 %</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69 baseline runs → both merchants accepted the same token</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Cause: non-atomic read-then-write inside the validator (race condition)</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Lock/Lease closes this gap: first lock request wins, second is rejected</a:t>
            </a:r>
            <a:endParaRPr b="1" sz="1800">
              <a:solidFill>
                <a:schemeClr val="lt1"/>
              </a:solidFill>
              <a:latin typeface="Play"/>
              <a:ea typeface="Play"/>
              <a:cs typeface="Play"/>
              <a:sym typeface="Play"/>
            </a:endParaRPr>
          </a:p>
        </p:txBody>
      </p:sp>
      <p:pic>
        <p:nvPicPr>
          <p:cNvPr id="202" name="Google Shape;202;p27"/>
          <p:cNvPicPr preferRelativeResize="0"/>
          <p:nvPr/>
        </p:nvPicPr>
        <p:blipFill>
          <a:blip r:embed="rId3">
            <a:alphaModFix/>
          </a:blip>
          <a:stretch>
            <a:fillRect/>
          </a:stretch>
        </p:blipFill>
        <p:spPr>
          <a:xfrm>
            <a:off x="6743850" y="2394113"/>
            <a:ext cx="4720750" cy="3188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8"/>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200"/>
              <a:buFont typeface="Play"/>
              <a:buNone/>
            </a:pPr>
            <a:r>
              <a:rPr b="1" lang="en-US" sz="3200">
                <a:latin typeface="Play"/>
                <a:ea typeface="Play"/>
                <a:cs typeface="Play"/>
                <a:sym typeface="Play"/>
              </a:rPr>
              <a:t>Result 2: Quorum Size Sweep</a:t>
            </a:r>
            <a:endParaRPr/>
          </a:p>
        </p:txBody>
      </p:sp>
      <p:sp>
        <p:nvSpPr>
          <p:cNvPr id="208" name="Google Shape;208;p28"/>
          <p:cNvSpPr txBox="1"/>
          <p:nvPr/>
        </p:nvSpPr>
        <p:spPr>
          <a:xfrm>
            <a:off x="685800" y="1780125"/>
            <a:ext cx="5613000" cy="4416300"/>
          </a:xfrm>
          <a:prstGeom prst="rect">
            <a:avLst/>
          </a:prstGeom>
          <a:noFill/>
          <a:ln>
            <a:noFill/>
          </a:ln>
        </p:spPr>
        <p:txBody>
          <a:bodyPr anchorCtr="0" anchor="ctr" bIns="45700" lIns="91425" spcFirstLastPara="1" rIns="91425" wrap="square" tIns="45700">
            <a:normAutofit lnSpcReduction="10000"/>
          </a:bodyPr>
          <a:lstStyle/>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Setup: lock/lease, n = 5, no faults, 100 runs per q value</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q = 2  →  84 %   (quorums can pick different validators)</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q = 3  →  100 %  (any two quorums share ≥ 1 validator)</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q = 4, 5  →  100 %</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Latency: ~ 45 ms across all q values</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Messages: 15 per attempt — constant</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 bigger q gives more safety with almost no extra cost</a:t>
            </a:r>
            <a:endParaRPr b="1" sz="1800">
              <a:solidFill>
                <a:schemeClr val="lt1"/>
              </a:solidFill>
              <a:latin typeface="Play"/>
              <a:ea typeface="Play"/>
              <a:cs typeface="Play"/>
              <a:sym typeface="Play"/>
            </a:endParaRPr>
          </a:p>
        </p:txBody>
      </p:sp>
      <p:pic>
        <p:nvPicPr>
          <p:cNvPr id="209" name="Google Shape;209;p28"/>
          <p:cNvPicPr preferRelativeResize="0"/>
          <p:nvPr/>
        </p:nvPicPr>
        <p:blipFill>
          <a:blip r:embed="rId3">
            <a:alphaModFix/>
          </a:blip>
          <a:stretch>
            <a:fillRect/>
          </a:stretch>
        </p:blipFill>
        <p:spPr>
          <a:xfrm>
            <a:off x="7299925" y="2521425"/>
            <a:ext cx="3800475" cy="2933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200"/>
              <a:buFont typeface="Play"/>
              <a:buNone/>
            </a:pPr>
            <a:r>
              <a:rPr b="1" lang="en-US" sz="3200">
                <a:latin typeface="Play"/>
                <a:ea typeface="Play"/>
                <a:cs typeface="Play"/>
                <a:sym typeface="Play"/>
              </a:rPr>
              <a:t>Result 3: Crash &amp; Byzantine Faults</a:t>
            </a:r>
            <a:endParaRPr/>
          </a:p>
        </p:txBody>
      </p:sp>
      <p:sp>
        <p:nvSpPr>
          <p:cNvPr id="215" name="Google Shape;215;p29"/>
          <p:cNvSpPr txBox="1"/>
          <p:nvPr/>
        </p:nvSpPr>
        <p:spPr>
          <a:xfrm>
            <a:off x="685800" y="1780125"/>
            <a:ext cx="5613000" cy="4416300"/>
          </a:xfrm>
          <a:prstGeom prst="rect">
            <a:avLst/>
          </a:prstGeom>
          <a:noFill/>
          <a:ln>
            <a:noFill/>
          </a:ln>
        </p:spPr>
        <p:txBody>
          <a:bodyPr anchorCtr="0" anchor="ctr" bIns="45700" lIns="91425" spcFirstLastPara="1" rIns="91425" wrap="square" tIns="45700">
            <a:normAutofit/>
          </a:bodyPr>
          <a:lstStyle/>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Crash tolerance (lock/lease, q = 3):</a:t>
            </a:r>
            <a:endParaRPr b="1" sz="1800">
              <a:solidFill>
                <a:schemeClr val="lt1"/>
              </a:solidFill>
              <a:latin typeface="Play"/>
              <a:ea typeface="Play"/>
              <a:cs typeface="Play"/>
              <a:sym typeface="Play"/>
            </a:endParaRPr>
          </a:p>
          <a:p>
            <a:pPr indent="-342900" lvl="1" marL="9144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f_c = 2  →  3 alive ≥ q   →  100 % success</a:t>
            </a:r>
            <a:endParaRPr b="1" sz="1800">
              <a:solidFill>
                <a:schemeClr val="lt1"/>
              </a:solidFill>
              <a:latin typeface="Play"/>
              <a:ea typeface="Play"/>
              <a:cs typeface="Play"/>
              <a:sym typeface="Play"/>
            </a:endParaRPr>
          </a:p>
          <a:p>
            <a:pPr indent="-342900" lvl="1" marL="9144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f_c = 3  →  2 alive &lt; q   →    0 % success</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Byzantine safety (lock/lease, f_c = 0):</a:t>
            </a:r>
            <a:endParaRPr b="1" sz="1800">
              <a:solidFill>
                <a:schemeClr val="lt1"/>
              </a:solidFill>
              <a:latin typeface="Play"/>
              <a:ea typeface="Play"/>
              <a:cs typeface="Play"/>
              <a:sym typeface="Play"/>
            </a:endParaRPr>
          </a:p>
          <a:p>
            <a:pPr indent="-342900" lvl="1" marL="9144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q = 4, f_b = 1   safe   (3 ≥ 2)    →  100 %</a:t>
            </a:r>
            <a:endParaRPr b="1" sz="1800">
              <a:solidFill>
                <a:schemeClr val="lt1"/>
              </a:solidFill>
              <a:latin typeface="Play"/>
              <a:ea typeface="Play"/>
              <a:cs typeface="Play"/>
              <a:sym typeface="Play"/>
            </a:endParaRPr>
          </a:p>
          <a:p>
            <a:pPr indent="-342900" lvl="1" marL="9144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q = 4, f_b = 2   safe   (3 ≥ 3)    →  100 %</a:t>
            </a:r>
            <a:endParaRPr b="1" sz="1800">
              <a:solidFill>
                <a:schemeClr val="lt1"/>
              </a:solidFill>
              <a:latin typeface="Play"/>
              <a:ea typeface="Play"/>
              <a:cs typeface="Play"/>
              <a:sym typeface="Play"/>
            </a:endParaRPr>
          </a:p>
          <a:p>
            <a:pPr indent="-342900" lvl="1" marL="9144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q = 3, f_b = 1   unsafe (1 &lt; 2)    →   97 %</a:t>
            </a:r>
            <a:endParaRPr b="1" sz="1800">
              <a:solidFill>
                <a:schemeClr val="lt1"/>
              </a:solidFill>
              <a:latin typeface="Play"/>
              <a:ea typeface="Play"/>
              <a:cs typeface="Play"/>
              <a:sym typeface="Play"/>
            </a:endParaRPr>
          </a:p>
          <a:p>
            <a:pPr indent="-342900" lvl="1" marL="9144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q = 3, f_b = 2   unsafe (1 &lt; 3)    →   84 %</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  Experiments match the theoretical conditions exactly</a:t>
            </a:r>
            <a:endParaRPr b="1" sz="1800">
              <a:solidFill>
                <a:schemeClr val="lt1"/>
              </a:solidFill>
              <a:latin typeface="Play"/>
              <a:ea typeface="Play"/>
              <a:cs typeface="Play"/>
              <a:sym typeface="Play"/>
            </a:endParaRPr>
          </a:p>
        </p:txBody>
      </p:sp>
      <p:pic>
        <p:nvPicPr>
          <p:cNvPr id="216" name="Google Shape;216;p29"/>
          <p:cNvPicPr preferRelativeResize="0"/>
          <p:nvPr/>
        </p:nvPicPr>
        <p:blipFill>
          <a:blip r:embed="rId3">
            <a:alphaModFix/>
          </a:blip>
          <a:stretch>
            <a:fillRect/>
          </a:stretch>
        </p:blipFill>
        <p:spPr>
          <a:xfrm>
            <a:off x="7553575" y="1780125"/>
            <a:ext cx="3578149" cy="2572500"/>
          </a:xfrm>
          <a:prstGeom prst="rect">
            <a:avLst/>
          </a:prstGeom>
          <a:noFill/>
          <a:ln>
            <a:noFill/>
          </a:ln>
        </p:spPr>
      </p:pic>
      <p:pic>
        <p:nvPicPr>
          <p:cNvPr id="217" name="Google Shape;217;p29"/>
          <p:cNvPicPr preferRelativeResize="0"/>
          <p:nvPr/>
        </p:nvPicPr>
        <p:blipFill>
          <a:blip r:embed="rId4">
            <a:alphaModFix/>
          </a:blip>
          <a:stretch>
            <a:fillRect/>
          </a:stretch>
        </p:blipFill>
        <p:spPr>
          <a:xfrm>
            <a:off x="7553576" y="4485525"/>
            <a:ext cx="3578149" cy="2200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0"/>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200"/>
              <a:buFont typeface="Play"/>
              <a:buNone/>
            </a:pPr>
            <a:r>
              <a:rPr b="1" lang="en-US" sz="3200">
                <a:latin typeface="Play"/>
                <a:ea typeface="Play"/>
                <a:cs typeface="Play"/>
                <a:sym typeface="Play"/>
              </a:rPr>
              <a:t>Result 4: Throughput</a:t>
            </a:r>
            <a:endParaRPr/>
          </a:p>
        </p:txBody>
      </p:sp>
      <p:sp>
        <p:nvSpPr>
          <p:cNvPr id="223" name="Google Shape;223;p30"/>
          <p:cNvSpPr txBox="1"/>
          <p:nvPr/>
        </p:nvSpPr>
        <p:spPr>
          <a:xfrm>
            <a:off x="685800" y="1780125"/>
            <a:ext cx="5613000" cy="4416300"/>
          </a:xfrm>
          <a:prstGeom prst="rect">
            <a:avLst/>
          </a:prstGeom>
          <a:noFill/>
          <a:ln>
            <a:noFill/>
          </a:ln>
        </p:spPr>
        <p:txBody>
          <a:bodyPr anchorCtr="0" anchor="ctr" bIns="45700" lIns="91425" spcFirstLastPara="1" rIns="91425" wrap="square" tIns="45700">
            <a:normAutofit lnSpcReduction="10000"/>
          </a:bodyPr>
          <a:lstStyle/>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Setup: 20-token chain, sequential processing, 50 runs</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Lock/Lease:   38.4 tok/s · ~ 25 ms per token   ·   chain in 496 ms</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Baseline:     32.1 tok/s  ·   chain in 592 ms</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Caveat:  baseline has a built-in non-atomic delay (the race window)</a:t>
            </a:r>
            <a:endParaRPr b="1" sz="1800">
              <a:solidFill>
                <a:schemeClr val="lt1"/>
              </a:solidFill>
              <a:latin typeface="Play"/>
              <a:ea typeface="Play"/>
              <a:cs typeface="Play"/>
              <a:sym typeface="Play"/>
            </a:endParaRPr>
          </a:p>
          <a:p>
            <a:pPr indent="-342900" lvl="1" marL="9144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comparison shows correctness behavior, not raw speed</a:t>
            </a:r>
            <a:endParaRPr b="1" sz="1800">
              <a:solidFill>
                <a:schemeClr val="lt1"/>
              </a:solidFill>
              <a:latin typeface="Play"/>
              <a:ea typeface="Play"/>
              <a:cs typeface="Play"/>
              <a:sym typeface="Play"/>
            </a:endParaRPr>
          </a:p>
          <a:p>
            <a:pPr indent="-342900" lvl="0" marL="457200" rtl="0" algn="l">
              <a:lnSpc>
                <a:spcPct val="150000"/>
              </a:lnSpc>
              <a:spcBef>
                <a:spcPts val="0"/>
              </a:spcBef>
              <a:spcAft>
                <a:spcPts val="0"/>
              </a:spcAft>
              <a:buClr>
                <a:schemeClr val="lt1"/>
              </a:buClr>
              <a:buSzPts val="1800"/>
              <a:buFont typeface="Play"/>
              <a:buChar char="•"/>
            </a:pPr>
            <a:r>
              <a:rPr b="1" lang="en-US" sz="1800">
                <a:solidFill>
                  <a:schemeClr val="lt1"/>
                </a:solidFill>
                <a:latin typeface="Play"/>
                <a:ea typeface="Play"/>
                <a:cs typeface="Play"/>
                <a:sym typeface="Play"/>
              </a:rPr>
              <a:t>Take-away: 25 ms per token is fast enough for IoT micropayments</a:t>
            </a:r>
            <a:endParaRPr b="1" sz="1800">
              <a:solidFill>
                <a:schemeClr val="lt1"/>
              </a:solidFill>
              <a:latin typeface="Play"/>
              <a:ea typeface="Play"/>
              <a:cs typeface="Play"/>
              <a:sym typeface="Play"/>
            </a:endParaRPr>
          </a:p>
        </p:txBody>
      </p:sp>
      <p:pic>
        <p:nvPicPr>
          <p:cNvPr id="224" name="Google Shape;224;p30"/>
          <p:cNvPicPr preferRelativeResize="0"/>
          <p:nvPr/>
        </p:nvPicPr>
        <p:blipFill>
          <a:blip r:embed="rId3">
            <a:alphaModFix/>
          </a:blip>
          <a:stretch>
            <a:fillRect/>
          </a:stretch>
        </p:blipFill>
        <p:spPr>
          <a:xfrm>
            <a:off x="6298800" y="2725475"/>
            <a:ext cx="5588401" cy="2213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1"/>
          <p:cNvSpPr txBox="1"/>
          <p:nvPr>
            <p:ph type="title"/>
          </p:nvPr>
        </p:nvSpPr>
        <p:spPr>
          <a:xfrm>
            <a:off x="685801" y="609600"/>
            <a:ext cx="10131300" cy="14562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3200"/>
              <a:buFont typeface="Play"/>
              <a:buNone/>
            </a:pPr>
            <a:r>
              <a:rPr b="1" lang="en-US" sz="3200">
                <a:latin typeface="Play"/>
                <a:ea typeface="Play"/>
                <a:cs typeface="Play"/>
                <a:sym typeface="Play"/>
              </a:rPr>
              <a:t>Conclusion + Future Work</a:t>
            </a:r>
            <a:endParaRPr/>
          </a:p>
        </p:txBody>
      </p:sp>
      <p:sp>
        <p:nvSpPr>
          <p:cNvPr id="230" name="Google Shape;230;p31"/>
          <p:cNvSpPr txBox="1"/>
          <p:nvPr/>
        </p:nvSpPr>
        <p:spPr>
          <a:xfrm>
            <a:off x="685800" y="1780125"/>
            <a:ext cx="8328900" cy="4416300"/>
          </a:xfrm>
          <a:prstGeom prst="rect">
            <a:avLst/>
          </a:prstGeom>
          <a:noFill/>
          <a:ln>
            <a:noFill/>
          </a:ln>
        </p:spPr>
        <p:txBody>
          <a:bodyPr anchorCtr="0" anchor="ctr" bIns="45700" lIns="91425" spcFirstLastPara="1" rIns="91425" wrap="square" tIns="45700">
            <a:normAutofit fontScale="85000" lnSpcReduction="20000"/>
          </a:bodyPr>
          <a:lstStyle/>
          <a:p>
            <a:pPr indent="-325755" lvl="0" marL="4572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What I built</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Hash chain  +  small validator quorum  +  two-phase lock/lease</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No blockchain · No global consensus · Simple servers</a:t>
            </a:r>
            <a:endParaRPr b="1" sz="1800">
              <a:solidFill>
                <a:schemeClr val="lt1"/>
              </a:solidFill>
              <a:latin typeface="Play"/>
              <a:ea typeface="Play"/>
              <a:cs typeface="Play"/>
              <a:sym typeface="Play"/>
            </a:endParaRPr>
          </a:p>
          <a:p>
            <a:pPr indent="-325755" lvl="0" marL="4572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What I proved (formal)</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Safety:    2q − n  ≥  f_b + 1</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Liveness:  n − f_c  ≥  q</a:t>
            </a:r>
            <a:endParaRPr b="1" sz="1800">
              <a:solidFill>
                <a:schemeClr val="lt1"/>
              </a:solidFill>
              <a:latin typeface="Play"/>
              <a:ea typeface="Play"/>
              <a:cs typeface="Play"/>
              <a:sym typeface="Play"/>
            </a:endParaRPr>
          </a:p>
          <a:p>
            <a:pPr indent="-325755" lvl="0" marL="4572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What I measured (14 scenarios, 100 runs each)</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100 % double-spend prevention under safe configurations</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25 ms per token   ·   38.4 tokens / second</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Theory and experiments match exactly</a:t>
            </a:r>
            <a:endParaRPr b="1" sz="1800">
              <a:solidFill>
                <a:schemeClr val="lt1"/>
              </a:solidFill>
              <a:latin typeface="Play"/>
              <a:ea typeface="Play"/>
              <a:cs typeface="Play"/>
              <a:sym typeface="Play"/>
            </a:endParaRPr>
          </a:p>
          <a:p>
            <a:pPr indent="-325755" lvl="0" marL="4572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Future work</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Larger validator sets (n = 7, 9)</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Wide-area network conditions (delay, packet loss)</a:t>
            </a:r>
            <a:endParaRPr b="1" sz="1800">
              <a:solidFill>
                <a:schemeClr val="lt1"/>
              </a:solidFill>
              <a:latin typeface="Play"/>
              <a:ea typeface="Play"/>
              <a:cs typeface="Play"/>
              <a:sym typeface="Play"/>
            </a:endParaRPr>
          </a:p>
          <a:p>
            <a:pPr indent="-325755" lvl="1" marL="914400" rtl="0" algn="l">
              <a:lnSpc>
                <a:spcPct val="150000"/>
              </a:lnSpc>
              <a:spcBef>
                <a:spcPts val="0"/>
              </a:spcBef>
              <a:spcAft>
                <a:spcPts val="0"/>
              </a:spcAft>
              <a:buClr>
                <a:schemeClr val="lt1"/>
              </a:buClr>
              <a:buSzPct val="100000"/>
              <a:buFont typeface="Play"/>
              <a:buChar char="•"/>
            </a:pPr>
            <a:r>
              <a:rPr b="1" lang="en-US" sz="1800">
                <a:solidFill>
                  <a:schemeClr val="lt1"/>
                </a:solidFill>
                <a:latin typeface="Play"/>
                <a:ea typeface="Play"/>
                <a:cs typeface="Play"/>
                <a:sym typeface="Play"/>
              </a:rPr>
              <a:t>Dynamic validator membership (join / leave at runtime)</a:t>
            </a:r>
            <a:endParaRPr b="1" sz="1800">
              <a:solidFill>
                <a:schemeClr val="lt1"/>
              </a:solidFill>
              <a:latin typeface="Play"/>
              <a:ea typeface="Play"/>
              <a:cs typeface="Play"/>
              <a:sym typeface="Pl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txBox="1"/>
          <p:nvPr>
            <p:ph type="title"/>
          </p:nvPr>
        </p:nvSpPr>
        <p:spPr>
          <a:xfrm>
            <a:off x="1030287" y="2700866"/>
            <a:ext cx="10131425" cy="145626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3200"/>
              <a:buFont typeface="Play"/>
              <a:buNone/>
            </a:pPr>
            <a:r>
              <a:rPr b="1" lang="en-US" sz="3200">
                <a:latin typeface="Play"/>
                <a:ea typeface="Play"/>
                <a:cs typeface="Play"/>
                <a:sym typeface="Play"/>
              </a:rPr>
              <a:t>THANKS FOR LISTENING!</a:t>
            </a:r>
            <a:endParaRPr b="1" sz="3200">
              <a:latin typeface="Play"/>
              <a:ea typeface="Play"/>
              <a:cs typeface="Play"/>
              <a:sym typeface="Play"/>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elestial">
  <a:themeElements>
    <a:clrScheme name="Celestial">
      <a:dk1>
        <a:srgbClr val="000000"/>
      </a:dk1>
      <a:lt1>
        <a:srgbClr val="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